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43"/>
  </p:notesMasterIdLst>
  <p:sldIdLst>
    <p:sldId id="256" r:id="rId2"/>
    <p:sldId id="375" r:id="rId3"/>
    <p:sldId id="490" r:id="rId4"/>
    <p:sldId id="376" r:id="rId5"/>
    <p:sldId id="451" r:id="rId6"/>
    <p:sldId id="440" r:id="rId7"/>
    <p:sldId id="462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92" r:id="rId22"/>
    <p:sldId id="464" r:id="rId23"/>
    <p:sldId id="493" r:id="rId24"/>
    <p:sldId id="494" r:id="rId25"/>
    <p:sldId id="495" r:id="rId26"/>
    <p:sldId id="496" r:id="rId27"/>
    <p:sldId id="478" r:id="rId28"/>
    <p:sldId id="479" r:id="rId29"/>
    <p:sldId id="480" r:id="rId30"/>
    <p:sldId id="481" r:id="rId31"/>
    <p:sldId id="482" r:id="rId32"/>
    <p:sldId id="483" r:id="rId33"/>
    <p:sldId id="484" r:id="rId34"/>
    <p:sldId id="443" r:id="rId35"/>
    <p:sldId id="452" r:id="rId36"/>
    <p:sldId id="485" r:id="rId37"/>
    <p:sldId id="486" r:id="rId38"/>
    <p:sldId id="488" r:id="rId39"/>
    <p:sldId id="489" r:id="rId40"/>
    <p:sldId id="497" r:id="rId41"/>
    <p:sldId id="49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75" d="100"/>
          <a:sy n="75" d="100"/>
        </p:scale>
        <p:origin x="24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#2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#1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#2" qsCatId="simple" csTypeId="urn:microsoft.com/office/officeart/2005/8/colors/accent1_4#2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/>
      <dgm:spPr/>
      <dgm:t>
        <a:bodyPr/>
        <a:lstStyle/>
        <a:p>
          <a:pPr rtl="0"/>
          <a:r>
            <a:rPr lang="en-US" b="1" dirty="0"/>
            <a:t>Loading the Dataset</a:t>
          </a:r>
          <a:r>
            <a:rPr lang="en-US" dirty="0"/>
            <a:t> (Consists of Input Features (X) and Class/Output (y)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/>
      <dgm:spPr/>
      <dgm:t>
        <a:bodyPr/>
        <a:lstStyle/>
        <a:p>
          <a:pPr rtl="0"/>
          <a:r>
            <a:rPr lang="en-US" dirty="0"/>
            <a:t>Preprocess the Dataset 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/>
      <dgm:spPr/>
      <dgm:t>
        <a:bodyPr/>
        <a:lstStyle/>
        <a:p>
          <a:pPr rtl="0"/>
          <a:r>
            <a:rPr lang="en-US" dirty="0"/>
            <a:t>Analyze the Data Set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7FE88CE-2DC8-4654-9986-E516FE4B8090}">
      <dgm:prSet/>
      <dgm:spPr/>
      <dgm:t>
        <a:bodyPr/>
        <a:lstStyle/>
        <a:p>
          <a:pPr rtl="0"/>
          <a:r>
            <a:rPr lang="en-US" dirty="0"/>
            <a:t>Apply Learning Scheme OR Algorithm </a:t>
          </a:r>
        </a:p>
      </dgm:t>
    </dgm:pt>
    <dgm:pt modelId="{AC2E57D2-FAC6-41E4-8EB2-21AF1880C9A8}" type="parTrans" cxnId="{94AC9967-CEA5-41A2-B6D0-BBB02EEFB11B}">
      <dgm:prSet/>
      <dgm:spPr/>
      <dgm:t>
        <a:bodyPr/>
        <a:lstStyle/>
        <a:p>
          <a:endParaRPr lang="en-US"/>
        </a:p>
      </dgm:t>
    </dgm:pt>
    <dgm:pt modelId="{A2F71C3E-39AA-4D72-B3AA-DCAC4C20F63B}" type="sibTrans" cxnId="{94AC9967-CEA5-41A2-B6D0-BBB02EEFB11B}">
      <dgm:prSet/>
      <dgm:spPr/>
      <dgm:t>
        <a:bodyPr/>
        <a:lstStyle/>
        <a:p>
          <a:endParaRPr lang="en-US"/>
        </a:p>
      </dgm:t>
    </dgm:pt>
    <dgm:pt modelId="{3D4D03C8-15DD-4951-ACBB-0DDEC66947B2}">
      <dgm:prSet/>
      <dgm:spPr/>
      <dgm:t>
        <a:bodyPr/>
        <a:lstStyle/>
        <a:p>
          <a:pPr rtl="0"/>
          <a:r>
            <a:rPr lang="en-US" dirty="0"/>
            <a:t>Generate Model and Predict</a:t>
          </a:r>
        </a:p>
      </dgm:t>
    </dgm:pt>
    <dgm:pt modelId="{1E8A0F58-84A5-490B-98B2-F74B4957F6B0}" type="parTrans" cxnId="{C306322D-B4BD-4527-95EA-DA67BC43A8D5}">
      <dgm:prSet/>
      <dgm:spPr/>
      <dgm:t>
        <a:bodyPr/>
        <a:lstStyle/>
        <a:p>
          <a:endParaRPr lang="en-US"/>
        </a:p>
      </dgm:t>
    </dgm:pt>
    <dgm:pt modelId="{A4BC35D5-2408-4AD3-A123-6E0033196BCA}" type="sibTrans" cxnId="{C306322D-B4BD-4527-95EA-DA67BC43A8D5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Evaluate the Model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Understanding Nature of Problem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0762DCDD-6AE9-42E9-80E3-49D235E6B6EE}" type="pres">
      <dgm:prSet presAssocID="{07FE88CE-2DC8-4654-9986-E516FE4B809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7585B1-34C9-4C29-9BE1-EF918DC8E1AF}" type="pres">
      <dgm:prSet presAssocID="{A2F71C3E-39AA-4D72-B3AA-DCAC4C20F63B}" presName="spacer" presStyleCnt="0"/>
      <dgm:spPr/>
    </dgm:pt>
    <dgm:pt modelId="{7A6D500D-95C1-4D02-A27E-D8FFE31A2430}" type="pres">
      <dgm:prSet presAssocID="{3D4D03C8-15DD-4951-ACBB-0DDEC66947B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F744BC8-44D7-4189-813E-BB2386641777}" type="pres">
      <dgm:prSet presAssocID="{A4BC35D5-2408-4AD3-A123-6E0033196BCA}" presName="spacer" presStyleCnt="0"/>
      <dgm:spPr/>
    </dgm:pt>
    <dgm:pt modelId="{CE02C4C2-100F-4069-ACFD-ABFE7B60CCAB}" type="pres">
      <dgm:prSet presAssocID="{0AD0243A-FE42-48A6-834B-FAC5A9AB903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C2E6EF1E-93B6-4FA7-9E94-64E2BD362E88}" type="presOf" srcId="{3D4D03C8-15DD-4951-ACBB-0DDEC66947B2}" destId="{7A6D500D-95C1-4D02-A27E-D8FFE31A2430}" srcOrd="0" destOrd="0" presId="urn:microsoft.com/office/officeart/2005/8/layout/vList2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C306322D-B4BD-4527-95EA-DA67BC43A8D5}" srcId="{44700AFC-574B-49BC-987D-22932097EE1B}" destId="{3D4D03C8-15DD-4951-ACBB-0DDEC66947B2}" srcOrd="5" destOrd="0" parTransId="{1E8A0F58-84A5-490B-98B2-F74B4957F6B0}" sibTransId="{A4BC35D5-2408-4AD3-A123-6E0033196BCA}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94AC9967-CEA5-41A2-B6D0-BBB02EEFB11B}" srcId="{44700AFC-574B-49BC-987D-22932097EE1B}" destId="{07FE88CE-2DC8-4654-9986-E516FE4B8090}" srcOrd="4" destOrd="0" parTransId="{AC2E57D2-FAC6-41E4-8EB2-21AF1880C9A8}" sibTransId="{A2F71C3E-39AA-4D72-B3AA-DCAC4C20F63B}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6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6E5ADBD6-3838-49FC-9847-ED9A07706106}" type="presOf" srcId="{07FE88CE-2DC8-4654-9986-E516FE4B8090}" destId="{0762DCDD-6AE9-42E9-80E3-49D235E6B6EE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934A8AA-2D27-41A6-9086-448BD5D59291}" type="presParOf" srcId="{51305580-5B81-40ED-8CB3-C370BA06492A}" destId="{0762DCDD-6AE9-42E9-80E3-49D235E6B6EE}" srcOrd="8" destOrd="0" presId="urn:microsoft.com/office/officeart/2005/8/layout/vList2"/>
    <dgm:cxn modelId="{F5477B2E-5641-490D-8D72-BEE7A89F62A5}" type="presParOf" srcId="{51305580-5B81-40ED-8CB3-C370BA06492A}" destId="{527585B1-34C9-4C29-9BE1-EF918DC8E1AF}" srcOrd="9" destOrd="0" presId="urn:microsoft.com/office/officeart/2005/8/layout/vList2"/>
    <dgm:cxn modelId="{DDC65654-15DB-4455-81FD-9979426109EA}" type="presParOf" srcId="{51305580-5B81-40ED-8CB3-C370BA06492A}" destId="{7A6D500D-95C1-4D02-A27E-D8FFE31A2430}" srcOrd="10" destOrd="0" presId="urn:microsoft.com/office/officeart/2005/8/layout/vList2"/>
    <dgm:cxn modelId="{4879EA31-08AE-48EB-9536-77D097C6ACD7}" type="presParOf" srcId="{51305580-5B81-40ED-8CB3-C370BA06492A}" destId="{DF744BC8-44D7-4189-813E-BB2386641777}" srcOrd="11" destOrd="0" presId="urn:microsoft.com/office/officeart/2005/8/layout/vList2"/>
    <dgm:cxn modelId="{0AC098AB-C7BA-4E47-87E2-CB7DAAC5CDDA}" type="presParOf" srcId="{51305580-5B81-40ED-8CB3-C370BA06492A}" destId="{CE02C4C2-100F-4069-ACFD-ABFE7B60CCA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#1" qsCatId="simple" csTypeId="urn:microsoft.com/office/officeart/2005/8/colors/accent1_4#1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/>
      <dgm:spPr/>
      <dgm:t>
        <a:bodyPr/>
        <a:lstStyle/>
        <a:p>
          <a:pPr rtl="0"/>
          <a:r>
            <a:rPr lang="en-US" b="1" dirty="0"/>
            <a:t>Loading the Dataset</a:t>
          </a:r>
          <a:r>
            <a:rPr lang="en-US" dirty="0"/>
            <a:t> 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/>
      <dgm:spPr/>
      <dgm:t>
        <a:bodyPr/>
        <a:lstStyle/>
        <a:p>
          <a:pPr rtl="0"/>
          <a:r>
            <a:rPr lang="en-US" dirty="0"/>
            <a:t>Preprocess the Dataset 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/>
      <dgm:spPr/>
      <dgm:t>
        <a:bodyPr/>
        <a:lstStyle/>
        <a:p>
          <a:pPr rtl="0"/>
          <a:r>
            <a:rPr lang="en-US" dirty="0"/>
            <a:t>Data Visualization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Exploring the Dataset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Machine Learning Workflow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CE02C4C2-100F-4069-ACFD-ABFE7B60CCAB}" type="pres">
      <dgm:prSet presAssocID="{0AD0243A-FE42-48A6-834B-FAC5A9AB903A}" presName="parentText" presStyleLbl="node1" presStyleIdx="4" presStyleCnt="5" custLinFactNeighborX="0" custLinFactNeighborY="-91879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4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AC098AB-C7BA-4E47-87E2-CB7DAAC5CDDA}" type="presParOf" srcId="{51305580-5B81-40ED-8CB3-C370BA06492A}" destId="{CE02C4C2-100F-4069-ACFD-ABFE7B60CC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1062915"/>
          <a:ext cx="9601196" cy="561599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Understanding Nature of Problem</a:t>
          </a:r>
        </a:p>
      </dsp:txBody>
      <dsp:txXfrm>
        <a:off x="27415" y="1090330"/>
        <a:ext cx="9546366" cy="506769"/>
      </dsp:txXfrm>
    </dsp:sp>
    <dsp:sp modelId="{4057D249-BF78-44A7-AFC9-577321A8363D}">
      <dsp:nvSpPr>
        <dsp:cNvPr id="0" name=""/>
        <dsp:cNvSpPr/>
      </dsp:nvSpPr>
      <dsp:spPr>
        <a:xfrm>
          <a:off x="0" y="1693635"/>
          <a:ext cx="9601196" cy="561599"/>
        </a:xfrm>
        <a:prstGeom prst="roundRect">
          <a:avLst/>
        </a:prstGeom>
        <a:solidFill>
          <a:schemeClr val="accent1">
            <a:shade val="50000"/>
            <a:hueOff val="-93515"/>
            <a:satOff val="965"/>
            <a:lumOff val="118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Loading the Dataset</a:t>
          </a:r>
          <a:r>
            <a:rPr lang="en-US" sz="2400" kern="1200" dirty="0"/>
            <a:t> (Consists of Input Features (X) and Class/Output (y)</a:t>
          </a:r>
        </a:p>
      </dsp:txBody>
      <dsp:txXfrm>
        <a:off x="27415" y="1721050"/>
        <a:ext cx="9546366" cy="506769"/>
      </dsp:txXfrm>
    </dsp:sp>
    <dsp:sp modelId="{6B3EA908-5C3E-4E6E-B4BF-274BAACBFC13}">
      <dsp:nvSpPr>
        <dsp:cNvPr id="0" name=""/>
        <dsp:cNvSpPr/>
      </dsp:nvSpPr>
      <dsp:spPr>
        <a:xfrm>
          <a:off x="0" y="2324355"/>
          <a:ext cx="9601196" cy="561599"/>
        </a:xfrm>
        <a:prstGeom prst="roundRect">
          <a:avLst/>
        </a:prstGeom>
        <a:solidFill>
          <a:schemeClr val="accent1">
            <a:shade val="50000"/>
            <a:hueOff val="-187031"/>
            <a:satOff val="1929"/>
            <a:lumOff val="236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Preprocess the Dataset </a:t>
          </a:r>
        </a:p>
      </dsp:txBody>
      <dsp:txXfrm>
        <a:off x="27415" y="2351770"/>
        <a:ext cx="9546366" cy="506769"/>
      </dsp:txXfrm>
    </dsp:sp>
    <dsp:sp modelId="{B247C9D2-294B-498B-ADB0-EE89ABA2E77B}">
      <dsp:nvSpPr>
        <dsp:cNvPr id="0" name=""/>
        <dsp:cNvSpPr/>
      </dsp:nvSpPr>
      <dsp:spPr>
        <a:xfrm>
          <a:off x="0" y="2955075"/>
          <a:ext cx="9601196" cy="561599"/>
        </a:xfrm>
        <a:prstGeom prst="roundRect">
          <a:avLst/>
        </a:prstGeom>
        <a:solidFill>
          <a:schemeClr val="accent1">
            <a:shade val="50000"/>
            <a:hueOff val="-280546"/>
            <a:satOff val="2894"/>
            <a:lumOff val="355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Analyze the Data Set</a:t>
          </a:r>
        </a:p>
      </dsp:txBody>
      <dsp:txXfrm>
        <a:off x="27415" y="2982490"/>
        <a:ext cx="9546366" cy="506769"/>
      </dsp:txXfrm>
    </dsp:sp>
    <dsp:sp modelId="{F16E940E-D450-4C38-8331-070E649AFA26}">
      <dsp:nvSpPr>
        <dsp:cNvPr id="0" name=""/>
        <dsp:cNvSpPr/>
      </dsp:nvSpPr>
      <dsp:spPr>
        <a:xfrm>
          <a:off x="0" y="3516675"/>
          <a:ext cx="9601196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900" kern="1200" dirty="0"/>
        </a:p>
      </dsp:txBody>
      <dsp:txXfrm>
        <a:off x="0" y="3516675"/>
        <a:ext cx="9601196" cy="397440"/>
      </dsp:txXfrm>
    </dsp:sp>
    <dsp:sp modelId="{0762DCDD-6AE9-42E9-80E3-49D235E6B6EE}">
      <dsp:nvSpPr>
        <dsp:cNvPr id="0" name=""/>
        <dsp:cNvSpPr/>
      </dsp:nvSpPr>
      <dsp:spPr>
        <a:xfrm>
          <a:off x="0" y="3914115"/>
          <a:ext cx="9601196" cy="561599"/>
        </a:xfrm>
        <a:prstGeom prst="roundRect">
          <a:avLst/>
        </a:prstGeom>
        <a:solidFill>
          <a:schemeClr val="accent1">
            <a:shade val="50000"/>
            <a:hueOff val="-280546"/>
            <a:satOff val="2894"/>
            <a:lumOff val="355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Apply Learning Scheme OR Algorithm </a:t>
          </a:r>
        </a:p>
      </dsp:txBody>
      <dsp:txXfrm>
        <a:off x="27415" y="3941530"/>
        <a:ext cx="9546366" cy="506769"/>
      </dsp:txXfrm>
    </dsp:sp>
    <dsp:sp modelId="{7A6D500D-95C1-4D02-A27E-D8FFE31A2430}">
      <dsp:nvSpPr>
        <dsp:cNvPr id="0" name=""/>
        <dsp:cNvSpPr/>
      </dsp:nvSpPr>
      <dsp:spPr>
        <a:xfrm>
          <a:off x="0" y="4544835"/>
          <a:ext cx="9601196" cy="561599"/>
        </a:xfrm>
        <a:prstGeom prst="roundRect">
          <a:avLst/>
        </a:prstGeom>
        <a:solidFill>
          <a:schemeClr val="accent1">
            <a:shade val="50000"/>
            <a:hueOff val="-187031"/>
            <a:satOff val="1929"/>
            <a:lumOff val="236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Generate Model and Predict</a:t>
          </a:r>
        </a:p>
      </dsp:txBody>
      <dsp:txXfrm>
        <a:off x="27415" y="4572250"/>
        <a:ext cx="9546366" cy="506769"/>
      </dsp:txXfrm>
    </dsp:sp>
    <dsp:sp modelId="{CE02C4C2-100F-4069-ACFD-ABFE7B60CCAB}">
      <dsp:nvSpPr>
        <dsp:cNvPr id="0" name=""/>
        <dsp:cNvSpPr/>
      </dsp:nvSpPr>
      <dsp:spPr>
        <a:xfrm>
          <a:off x="0" y="5175555"/>
          <a:ext cx="9601196" cy="561599"/>
        </a:xfrm>
        <a:prstGeom prst="roundRect">
          <a:avLst/>
        </a:prstGeom>
        <a:solidFill>
          <a:schemeClr val="accent1">
            <a:shade val="50000"/>
            <a:hueOff val="-93515"/>
            <a:satOff val="965"/>
            <a:lumOff val="118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Evaluate the Model</a:t>
          </a:r>
        </a:p>
      </dsp:txBody>
      <dsp:txXfrm>
        <a:off x="27415" y="5202970"/>
        <a:ext cx="9546366" cy="506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64362"/>
          <a:ext cx="7647559" cy="8424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Machine Learning Workflow</a:t>
          </a:r>
        </a:p>
      </dsp:txBody>
      <dsp:txXfrm>
        <a:off x="41123" y="105485"/>
        <a:ext cx="7565313" cy="760154"/>
      </dsp:txXfrm>
    </dsp:sp>
    <dsp:sp modelId="{4057D249-BF78-44A7-AFC9-577321A8363D}">
      <dsp:nvSpPr>
        <dsp:cNvPr id="0" name=""/>
        <dsp:cNvSpPr/>
      </dsp:nvSpPr>
      <dsp:spPr>
        <a:xfrm>
          <a:off x="0" y="1010442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Loading the Dataset</a:t>
          </a:r>
          <a:r>
            <a:rPr lang="en-US" sz="3600" kern="1200" dirty="0"/>
            <a:t> </a:t>
          </a:r>
        </a:p>
      </dsp:txBody>
      <dsp:txXfrm>
        <a:off x="41123" y="1051565"/>
        <a:ext cx="7565313" cy="760154"/>
      </dsp:txXfrm>
    </dsp:sp>
    <dsp:sp modelId="{6B3EA908-5C3E-4E6E-B4BF-274BAACBFC13}">
      <dsp:nvSpPr>
        <dsp:cNvPr id="0" name=""/>
        <dsp:cNvSpPr/>
      </dsp:nvSpPr>
      <dsp:spPr>
        <a:xfrm>
          <a:off x="0" y="195652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Preprocess the Dataset </a:t>
          </a:r>
        </a:p>
      </dsp:txBody>
      <dsp:txXfrm>
        <a:off x="41123" y="1997645"/>
        <a:ext cx="7565313" cy="760154"/>
      </dsp:txXfrm>
    </dsp:sp>
    <dsp:sp modelId="{B247C9D2-294B-498B-ADB0-EE89ABA2E77B}">
      <dsp:nvSpPr>
        <dsp:cNvPr id="0" name=""/>
        <dsp:cNvSpPr/>
      </dsp:nvSpPr>
      <dsp:spPr>
        <a:xfrm>
          <a:off x="0" y="290260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 Visualization</a:t>
          </a:r>
        </a:p>
      </dsp:txBody>
      <dsp:txXfrm>
        <a:off x="41123" y="2943725"/>
        <a:ext cx="7565313" cy="760154"/>
      </dsp:txXfrm>
    </dsp:sp>
    <dsp:sp modelId="{F16E940E-D450-4C38-8331-070E649AFA26}">
      <dsp:nvSpPr>
        <dsp:cNvPr id="0" name=""/>
        <dsp:cNvSpPr/>
      </dsp:nvSpPr>
      <dsp:spPr>
        <a:xfrm>
          <a:off x="0" y="3745002"/>
          <a:ext cx="764755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/>
        </a:p>
      </dsp:txBody>
      <dsp:txXfrm>
        <a:off x="0" y="3745002"/>
        <a:ext cx="7647559" cy="596160"/>
      </dsp:txXfrm>
    </dsp:sp>
    <dsp:sp modelId="{CE02C4C2-100F-4069-ACFD-ABFE7B60CCAB}">
      <dsp:nvSpPr>
        <dsp:cNvPr id="0" name=""/>
        <dsp:cNvSpPr/>
      </dsp:nvSpPr>
      <dsp:spPr>
        <a:xfrm>
          <a:off x="0" y="3793416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Exploring the Dataset</a:t>
          </a:r>
        </a:p>
      </dsp:txBody>
      <dsp:txXfrm>
        <a:off x="41123" y="3834539"/>
        <a:ext cx="7565313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44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BE53-A84F-5387-94D0-78E055AC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752E2-354B-2BC8-D6FF-A5F38CAFC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0BB4E-ACF4-67FE-9B1C-022B7531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7F6A2-EB94-7251-B4AC-5A946C6EB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5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A245-27DD-CB54-19A5-9AE5AA46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733A3-E4CB-0B69-058D-E1A817558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05ECC-7BCA-5D93-D5FA-4A3E6929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03BA-1279-C65D-AD89-9A6D8E6A8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0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25C4-2CF7-4A48-3792-E3B15071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872A8-E4A9-2626-C50D-C60B38C92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492CB-8FEC-ED88-C052-E9BE27BAF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A8274-9A02-0743-F8A1-0EC1532E8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02B0-8E53-B549-225F-DC788D8B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4D4C1-656E-0DAF-B83F-8BBF1D8C4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CA159-2EE4-DB46-561C-191D19393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CFB6D-B377-4C02-328E-B516B5096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48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11BD-D044-9930-8B54-E6ADA025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37329-149D-71CC-BEBF-2190A42B2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A73D8-4573-8E60-6FB1-1FEA4A0CD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3502B-21F7-DCA7-3DD3-EEF43839C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4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tm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0F381-7DD1-4B4A-8343-62055D24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5021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Python Machine Learning Steps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777246"/>
              </p:ext>
            </p:extLst>
          </p:nvPr>
        </p:nvGraphicFramePr>
        <p:xfrm>
          <a:off x="1295400" y="335021"/>
          <a:ext cx="9601197" cy="6800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3">
            <a:extLst>
              <a:ext uri="{FF2B5EF4-FFF2-40B4-BE49-F238E27FC236}">
                <a16:creationId xmlns:a16="http://schemas.microsoft.com/office/drawing/2014/main" id="{31BFEB60-0ACB-556B-B5F9-15059A1C93DB}"/>
              </a:ext>
            </a:extLst>
          </p:cNvPr>
          <p:cNvSpPr txBox="1">
            <a:spLocks/>
          </p:cNvSpPr>
          <p:nvPr/>
        </p:nvSpPr>
        <p:spPr>
          <a:xfrm>
            <a:off x="1295401" y="243581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Python 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318339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E77-7931-B20F-3E6D-B22024C8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965B2-0E0D-041E-7248-1A82228F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46306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Lab Contents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C045FE8-40D7-ED0A-68B8-0E9C962D0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801676"/>
              </p:ext>
            </p:extLst>
          </p:nvPr>
        </p:nvGraphicFramePr>
        <p:xfrm>
          <a:off x="2272220" y="1610075"/>
          <a:ext cx="7647559" cy="524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0F381-7DD1-4B4A-8343-62055D24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CAD437-608A-4EDD-AAFE-BBC25A76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Many ways to Load Data in Python:</a:t>
            </a:r>
          </a:p>
          <a:p>
            <a:r>
              <a:rPr lang="en-US" sz="3200" dirty="0"/>
              <a:t>Load Data from Dataset module of Python</a:t>
            </a:r>
          </a:p>
          <a:p>
            <a:r>
              <a:rPr lang="en-US" sz="3200" dirty="0"/>
              <a:t>Save in Simple Arrays</a:t>
            </a:r>
          </a:p>
          <a:p>
            <a:r>
              <a:rPr lang="en-US" sz="3200" dirty="0"/>
              <a:t>Save in Dictionary OR Data frame in Pandas</a:t>
            </a:r>
          </a:p>
          <a:p>
            <a:r>
              <a:rPr lang="en-US" sz="3200" dirty="0"/>
              <a:t>Load data from File mostly in CSV format</a:t>
            </a:r>
          </a:p>
          <a:p>
            <a:r>
              <a:rPr lang="en-US" sz="3200" dirty="0"/>
              <a:t>Load data from Web source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0616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18321"/>
            <a:ext cx="419100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(Weather Data)</a:t>
            </a:r>
          </a:p>
        </p:txBody>
      </p:sp>
      <p:pic>
        <p:nvPicPr>
          <p:cNvPr id="7" name="Picture 6" descr="Screen Clipping">
            <a:extLst>
              <a:ext uri="{FF2B5EF4-FFF2-40B4-BE49-F238E27FC236}">
                <a16:creationId xmlns:a16="http://schemas.microsoft.com/office/drawing/2014/main" id="{B066676C-3840-4CA6-9F1B-CD5F467D4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715" y="166254"/>
            <a:ext cx="7239000" cy="652549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06136" y="2583872"/>
            <a:ext cx="3775364" cy="3318936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Features</a:t>
            </a:r>
          </a:p>
          <a:p>
            <a:r>
              <a:rPr lang="en-US" sz="2800" dirty="0"/>
              <a:t>Instances/Examples</a:t>
            </a:r>
          </a:p>
          <a:p>
            <a:r>
              <a:rPr lang="en-US" sz="2800" dirty="0"/>
              <a:t>Input/X</a:t>
            </a:r>
          </a:p>
          <a:p>
            <a:r>
              <a:rPr lang="en-US" sz="2800" dirty="0"/>
              <a:t>Output/Y/Target</a:t>
            </a:r>
          </a:p>
          <a:p>
            <a:r>
              <a:rPr lang="en-US" sz="2800" dirty="0"/>
              <a:t>Type of Problem (R/C)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416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26" y="96982"/>
            <a:ext cx="6526240" cy="666403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948" y="96982"/>
            <a:ext cx="3475528" cy="4433454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622" y="4332877"/>
            <a:ext cx="2299854" cy="242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9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5071" y="328829"/>
            <a:ext cx="9601196" cy="1303867"/>
          </a:xfrm>
        </p:spPr>
        <p:txBody>
          <a:bodyPr/>
          <a:lstStyle/>
          <a:p>
            <a:r>
              <a:rPr lang="en-US" dirty="0"/>
              <a:t>Iris Dataset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089" y="1148720"/>
            <a:ext cx="5709547" cy="463016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81" r="16547"/>
          <a:stretch/>
        </p:blipFill>
        <p:spPr>
          <a:xfrm>
            <a:off x="154362" y="1842656"/>
            <a:ext cx="6173727" cy="197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1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5DBC-65CD-E901-7200-E51D54E4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BD9CE7-1A64-4843-8ECC-0F294A27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A3CFB5-FFCF-1244-7B24-16D13860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b="1" dirty="0"/>
              <a:t>1. Manual Data Creation</a:t>
            </a:r>
            <a:endParaRPr lang="en-US" dirty="0"/>
          </a:p>
          <a:p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56423-4618-02AA-C2E3-3A4FE4FAE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02" y="2617874"/>
            <a:ext cx="7298527" cy="3352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75BFC-DC0D-A456-55A1-BDDBD636A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250" y="3026327"/>
            <a:ext cx="2521585" cy="98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978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B45-2112-00B7-2590-D56F479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DFD84-1AF9-7A21-FF25-171B0D4C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28C845-B54D-6E3C-29C4-AF5E0456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2. Loading from CSV File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C188B-04C8-2E83-128F-04BB45F1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35" y="2499701"/>
            <a:ext cx="7367048" cy="3372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598B5-7F13-728D-AC14-5F4146A62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077" y="4412974"/>
            <a:ext cx="2773066" cy="1272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392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FCBE-6558-B118-B2FF-31F2A9FB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B6F687-B197-EB8C-CF25-A3052A82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D3786F-11BB-11D6-4C0B-B57990853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b="1" dirty="0"/>
              <a:t>Loading from JSON File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BAD859-576E-B4E0-0CEB-158B7A91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31" y="2576918"/>
            <a:ext cx="7278759" cy="30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0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2C61-307E-F146-EDB7-EDA81675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FD7198-76BA-51BA-E8DB-65C91B76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BE4A13-4961-A7CE-25E3-5CDD32464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r>
              <a:rPr lang="en-US" b="1" dirty="0"/>
              <a:t>Loading from Excel File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5F13B-E4BA-C555-A2FD-F5B77A8E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88" y="2470834"/>
            <a:ext cx="5942076" cy="1260348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9F034D29-D422-D62F-7172-78C5087C29E1}"/>
              </a:ext>
            </a:extLst>
          </p:cNvPr>
          <p:cNvSpPr txBox="1">
            <a:spLocks/>
          </p:cNvSpPr>
          <p:nvPr/>
        </p:nvSpPr>
        <p:spPr>
          <a:xfrm>
            <a:off x="1213391" y="3945833"/>
            <a:ext cx="9601196" cy="483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Loading from Text File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DF4C3E-4CA2-6254-42F8-FD54344EA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188" y="4644141"/>
            <a:ext cx="5942076" cy="1260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BD8928-8E60-78C0-9B28-3735DD65C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715" y="4774189"/>
            <a:ext cx="2012950" cy="113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14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BE06-02A3-4296-68A3-774D99E3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25AC55-9044-6F7C-52F3-7175E89A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59B86C-191D-0896-A007-14FFC484C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Creating Sample Data with NumPy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FDDF7F-C535-C1D8-6FD9-19010324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14" y="2551601"/>
            <a:ext cx="6665082" cy="3531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2196E-0258-7314-2022-7078811DF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290" y="4411135"/>
            <a:ext cx="2673350" cy="128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922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B8AB-E799-3B01-121B-A3058654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E9C6A-49BB-304D-6119-88F080C9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AD08C4-4ED8-FD09-AD71-733D6630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Using </a:t>
            </a:r>
            <a:r>
              <a:rPr lang="en-US" b="1" dirty="0" err="1"/>
              <a:t>Sklearn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C6707-E3AD-0C77-A98A-2942C423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248" y="2636554"/>
            <a:ext cx="6933045" cy="2939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6EA307-150F-837C-79DD-2F3FE5CA4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779" y="3429000"/>
            <a:ext cx="2006600" cy="160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07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3080-2D61-0811-D688-BE64E53C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359CE2-CBEF-4875-4F5B-5C320030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7E3CD1-4C84-7EFE-1ABC-79B6135D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r>
              <a:rPr lang="en-US" b="1" dirty="0"/>
              <a:t>Other data sets </a:t>
            </a:r>
          </a:p>
        </p:txBody>
      </p:sp>
      <p:pic>
        <p:nvPicPr>
          <p:cNvPr id="2" name="Picture 1" descr="Screen Clipping">
            <a:extLst>
              <a:ext uri="{FF2B5EF4-FFF2-40B4-BE49-F238E27FC236}">
                <a16:creationId xmlns:a16="http://schemas.microsoft.com/office/drawing/2014/main" id="{DEDC26A9-2415-C36A-E466-95B07610A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129" b="14508"/>
          <a:stretch>
            <a:fillRect/>
          </a:stretch>
        </p:blipFill>
        <p:spPr>
          <a:xfrm>
            <a:off x="1753731" y="2551600"/>
            <a:ext cx="7449904" cy="24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BC03-7D4E-8736-D56A-D8276A2F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52A209-6987-53E2-DEEA-126AD69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2CCC9-F6C2-4FF8-7766-F32282096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828" y="2002733"/>
            <a:ext cx="11109448" cy="1719471"/>
          </a:xfrm>
        </p:spPr>
        <p:txBody>
          <a:bodyPr>
            <a:noAutofit/>
          </a:bodyPr>
          <a:lstStyle/>
          <a:p>
            <a:r>
              <a:rPr lang="en-US" sz="1800" dirty="0"/>
              <a:t>Two major tasks are:</a:t>
            </a:r>
          </a:p>
          <a:p>
            <a:pPr lvl="0"/>
            <a:r>
              <a:rPr lang="en-US" sz="1800" b="1" dirty="0">
                <a:highlight>
                  <a:srgbClr val="FFFF00"/>
                </a:highlight>
              </a:rPr>
              <a:t>Handling Missing Values</a:t>
            </a:r>
            <a:endParaRPr lang="en-US" sz="1800" dirty="0">
              <a:highlight>
                <a:srgbClr val="FFFF00"/>
              </a:highlight>
            </a:endParaRPr>
          </a:p>
          <a:p>
            <a:pPr lvl="0"/>
            <a:r>
              <a:rPr lang="en-US" sz="1800" b="1" dirty="0">
                <a:highlight>
                  <a:srgbClr val="FFFF00"/>
                </a:highlight>
              </a:rPr>
              <a:t>Handling Categorical Values</a:t>
            </a:r>
            <a:endParaRPr lang="en-US" sz="1800" dirty="0">
              <a:highlight>
                <a:srgbClr val="FFFF00"/>
              </a:highlight>
            </a:endParaRPr>
          </a:p>
          <a:p>
            <a:r>
              <a:rPr lang="en-US" sz="1800" b="1" dirty="0"/>
              <a:t>1. Handling Missing Values</a:t>
            </a:r>
          </a:p>
          <a:p>
            <a:r>
              <a:rPr lang="en-US" sz="1800" dirty="0"/>
              <a:t>Most ML algorithms cannot work with missing features.</a:t>
            </a:r>
          </a:p>
          <a:p>
            <a:r>
              <a:rPr lang="en-US" sz="1800" b="1" dirty="0"/>
              <a:t>Options for Missing Values:</a:t>
            </a:r>
            <a:endParaRPr lang="en-US" sz="1800" dirty="0"/>
          </a:p>
          <a:p>
            <a:pPr lvl="0"/>
            <a:r>
              <a:rPr lang="en-US" sz="1800" b="1" dirty="0"/>
              <a:t>Remove rows</a:t>
            </a:r>
            <a:r>
              <a:rPr lang="en-US" sz="1800" dirty="0"/>
              <a:t> containing missing values.</a:t>
            </a:r>
          </a:p>
          <a:p>
            <a:pPr lvl="0"/>
            <a:r>
              <a:rPr lang="en-US" sz="1800" b="1" dirty="0"/>
              <a:t>Remove columns</a:t>
            </a:r>
            <a:r>
              <a:rPr lang="en-US" sz="1800" dirty="0"/>
              <a:t> containing missing values.</a:t>
            </a:r>
          </a:p>
          <a:p>
            <a:pPr lvl="0"/>
            <a:r>
              <a:rPr lang="en-US" sz="1800" b="1" dirty="0"/>
              <a:t>Fill values</a:t>
            </a:r>
            <a:r>
              <a:rPr lang="en-US" sz="1800" dirty="0"/>
              <a:t> with a replacement (e.g., 0, mean, median, mode).</a:t>
            </a:r>
          </a:p>
        </p:txBody>
      </p:sp>
    </p:spTree>
    <p:extLst>
      <p:ext uri="{BB962C8B-B14F-4D97-AF65-F5344CB8AC3E}">
        <p14:creationId xmlns:p14="http://schemas.microsoft.com/office/powerpoint/2010/main" val="370867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574D-205D-9483-7550-21FEC9D5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F7D87-F6F2-DE19-B8FB-32292E13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C815A9-C3C6-05E8-0407-A45A304E9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040" y="1831630"/>
            <a:ext cx="6954935" cy="3194740"/>
          </a:xfrm>
          <a:prstGeom prst="rect">
            <a:avLst/>
          </a:prstGeom>
        </p:spPr>
      </p:pic>
      <p:pic>
        <p:nvPicPr>
          <p:cNvPr id="2" name="Picture 1" descr="A screenshot of a data frame&#10;&#10;Description automatically generated">
            <a:extLst>
              <a:ext uri="{FF2B5EF4-FFF2-40B4-BE49-F238E27FC236}">
                <a16:creationId xmlns:a16="http://schemas.microsoft.com/office/drawing/2014/main" id="{D86B9C57-EA09-8959-42E2-39074F6BE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862" y="4040173"/>
            <a:ext cx="2697632" cy="189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2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C78D-2F26-4AFD-9A7B-CC277E80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AADE3E-7A4D-B50F-AA63-F5B679EA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30CFEA-5427-A1E1-328E-F81EC22A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07" y="1785517"/>
            <a:ext cx="6370219" cy="4509311"/>
          </a:xfrm>
          <a:prstGeom prst="rect">
            <a:avLst/>
          </a:prstGeom>
        </p:spPr>
      </p:pic>
      <p:pic>
        <p:nvPicPr>
          <p:cNvPr id="11" name="Picture 10" descr="A white sheet with black text&#10;&#10;Description automatically generated">
            <a:extLst>
              <a:ext uri="{FF2B5EF4-FFF2-40B4-BE49-F238E27FC236}">
                <a16:creationId xmlns:a16="http://schemas.microsoft.com/office/drawing/2014/main" id="{95FEF74A-40F1-2964-DA4F-DFAFF225C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52" y="4040172"/>
            <a:ext cx="2689860" cy="16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7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6DB4-B97C-EBCA-3DC6-3F91D9C5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B8CD3-0743-BFA9-534F-0F7DD59F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071F3-8C79-43D5-CEB1-0A1D295B1573}"/>
              </a:ext>
            </a:extLst>
          </p:cNvPr>
          <p:cNvSpPr txBox="1"/>
          <p:nvPr/>
        </p:nvSpPr>
        <p:spPr>
          <a:xfrm>
            <a:off x="1727751" y="1944247"/>
            <a:ext cx="9453769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just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000" b="1" kern="10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Categorical Values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ML algorithms prefer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values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not text.</a:t>
            </a:r>
            <a:b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convert categorical attributes into numbers.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Manual Mapping/Ordinal Encoding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/>
              <a:t>(for ordered categories)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 Encoding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(for unordered categories, but a shortcut, usually alphabetically)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One-Hot Encoding </a:t>
            </a:r>
            <a:r>
              <a:rPr lang="en-US" sz="2000" dirty="0"/>
              <a:t>(for unordered categories, done properly, create a separate binary (0 or 1) column for each category.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E814-BB2A-7B67-E35C-1868355B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E91175-3E6A-3072-83E3-0F6E84CC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4D322-90AC-89E0-8202-C7FAF620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9" y="1660001"/>
            <a:ext cx="8271918" cy="2047295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CE7C7CB-7650-4F2F-302E-3DB8E1FF5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436" y="4061045"/>
            <a:ext cx="1650162" cy="113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8497-961B-26EC-2832-900098BF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5E9FB-BE71-5075-5F91-58E749DF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D4A5-C1FC-A66B-5914-C085FA09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11" y="1611232"/>
            <a:ext cx="5691807" cy="2539346"/>
          </a:xfrm>
          <a:prstGeom prst="rect">
            <a:avLst/>
          </a:prstGeom>
        </p:spPr>
      </p:pic>
      <p:pic>
        <p:nvPicPr>
          <p:cNvPr id="7" name="Picture 6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2DD3ABBF-17B2-4B03-2592-20015281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04" y="1797795"/>
            <a:ext cx="2830193" cy="1688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0F9606-53C7-A17B-B1E6-1B3868D4D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85" y="4250446"/>
            <a:ext cx="5691807" cy="1992643"/>
          </a:xfrm>
          <a:prstGeom prst="rect">
            <a:avLst/>
          </a:prstGeom>
        </p:spPr>
      </p:pic>
      <p:pic>
        <p:nvPicPr>
          <p:cNvPr id="12" name="Picture 11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A072043-C959-603E-4EE5-480AE4A64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674" y="4574937"/>
            <a:ext cx="2844165" cy="13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15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4446-B35D-ADCC-E867-C8FE5D7E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8E027A-6E9F-4D0A-AA61-CFF2F1501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61B7C-2759-45CF-2622-E501E107B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1763280"/>
            <a:ext cx="5602355" cy="23372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C30837-01E8-4257-C122-8FFFC7660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555" y="2139884"/>
            <a:ext cx="3187864" cy="12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BCBD74-33D3-166A-2401-DB5812A1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83" y="2796406"/>
            <a:ext cx="6991816" cy="2471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589FC2-DA62-8FF6-CA07-1BEB809B1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396" y="2931488"/>
            <a:ext cx="2792095" cy="220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itle 3">
            <a:extLst>
              <a:ext uri="{FF2B5EF4-FFF2-40B4-BE49-F238E27FC236}">
                <a16:creationId xmlns:a16="http://schemas.microsoft.com/office/drawing/2014/main" id="{51067BB0-D51C-90AF-0A95-4DEABC515A80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Preprocessing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50D84-76B0-6A78-2377-BFBA806C1F10}"/>
              </a:ext>
            </a:extLst>
          </p:cNvPr>
          <p:cNvSpPr txBox="1"/>
          <p:nvPr/>
        </p:nvSpPr>
        <p:spPr>
          <a:xfrm>
            <a:off x="1295402" y="242707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Handling Outliers</a:t>
            </a:r>
          </a:p>
        </p:txBody>
      </p:sp>
    </p:spTree>
    <p:extLst>
      <p:ext uri="{BB962C8B-B14F-4D97-AF65-F5344CB8AC3E}">
        <p14:creationId xmlns:p14="http://schemas.microsoft.com/office/powerpoint/2010/main" val="1606847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60F2-9FC6-79A3-CB48-37B58029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02A53388-430B-D1BD-BBEF-A743ACF2A571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Preprocessing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55037-130F-A844-9ED5-B1461BE8E537}"/>
              </a:ext>
            </a:extLst>
          </p:cNvPr>
          <p:cNvSpPr txBox="1"/>
          <p:nvPr/>
        </p:nvSpPr>
        <p:spPr>
          <a:xfrm>
            <a:off x="1398932" y="156462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Handling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FFC21-9552-39A5-5D5B-CB692A9DB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54" y="1933953"/>
            <a:ext cx="6383407" cy="2725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9C85D1-1502-2528-27AB-40FF28844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08" y="1933953"/>
            <a:ext cx="1352848" cy="20292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79C22E-71C7-D1EE-D444-1294C10CC64E}"/>
              </a:ext>
            </a:extLst>
          </p:cNvPr>
          <p:cNvSpPr txBox="1"/>
          <p:nvPr/>
        </p:nvSpPr>
        <p:spPr>
          <a:xfrm>
            <a:off x="1343854" y="474671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 Transformation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6434AC-AAB7-3A10-6CF0-B149B0101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08" y="5203556"/>
            <a:ext cx="1612983" cy="11557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1706C5-D0D4-EAF7-BCDF-6F86DD3BF3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13" y="5203556"/>
            <a:ext cx="4300000" cy="117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03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1845-E923-DEC6-7A4B-B9FD480F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90E5E1C1-4328-6194-B5FD-EF9B426945EA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Preprocessing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75869-AFBE-32FE-9C4B-7FBE3664F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58" t="-3618" r="1458" b="42408"/>
          <a:stretch>
            <a:fillRect/>
          </a:stretch>
        </p:blipFill>
        <p:spPr>
          <a:xfrm>
            <a:off x="513207" y="2034532"/>
            <a:ext cx="8343299" cy="2931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E92436-83B4-074B-A738-1AFB84257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5"/>
          <a:stretch>
            <a:fillRect/>
          </a:stretch>
        </p:blipFill>
        <p:spPr>
          <a:xfrm>
            <a:off x="9071195" y="2598471"/>
            <a:ext cx="2967495" cy="21275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E39AF5-ABDD-336C-1EC9-73F08696FDD5}"/>
              </a:ext>
            </a:extLst>
          </p:cNvPr>
          <p:cNvSpPr txBox="1"/>
          <p:nvPr/>
        </p:nvSpPr>
        <p:spPr>
          <a:xfrm>
            <a:off x="634860" y="1599400"/>
            <a:ext cx="6097656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Feature scaling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33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1BE15-7448-508F-DE51-C58DCEB5FFB7}"/>
              </a:ext>
            </a:extLst>
          </p:cNvPr>
          <p:cNvSpPr txBox="1"/>
          <p:nvPr/>
        </p:nvSpPr>
        <p:spPr>
          <a:xfrm>
            <a:off x="1041122" y="1477108"/>
            <a:ext cx="7228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Feature Selection and Feature Engineering Dimensionality Reduction</a:t>
            </a:r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1D0DD8AE-D50B-7928-0E0C-DE00A625F73F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Preprocessing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47902-3214-16E9-350B-49AAF8B0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1846440"/>
            <a:ext cx="5740939" cy="4864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2E57D4-DB88-4F47-5F1A-410EAD26A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76" y="2550708"/>
            <a:ext cx="4158395" cy="30886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CDB11F-9626-B35E-FDFF-9EEDE09E9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076" y="2422250"/>
            <a:ext cx="4158395" cy="30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65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CB08-B8D8-03B1-77B4-2055773B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7F7CF96F-CE15-7F8C-69FB-FF1631FBAE90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Preprocessing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07C6A-787C-4FCE-1459-ECEBA9FB835D}"/>
              </a:ext>
            </a:extLst>
          </p:cNvPr>
          <p:cNvSpPr txBox="1"/>
          <p:nvPr/>
        </p:nvSpPr>
        <p:spPr>
          <a:xfrm>
            <a:off x="1418810" y="1119603"/>
            <a:ext cx="609765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Handling Imbalanced Data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87AB46-34DF-F430-D580-267E2F46C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50" y="1485768"/>
            <a:ext cx="5214728" cy="5372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E76B42-264B-2373-14B9-6777A0B97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68" y="2294730"/>
            <a:ext cx="4552581" cy="226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55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3C4A-EEC5-6CA6-2A88-D881D05C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0D62CD-B264-7434-1302-B05DA0E2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2C5B5-183A-B08F-0381-D4CC79695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84" y="1850377"/>
            <a:ext cx="5942076" cy="457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0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0731-32E6-719E-03EC-023DF3A2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85B8AC-4441-9367-9D1E-9861E12A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7C0BD-040D-3DD9-EEEC-596E00F9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7" y="1683622"/>
            <a:ext cx="7132220" cy="4452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351FE-1438-D099-AA06-CA1CC3713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93" y="4214191"/>
            <a:ext cx="3493007" cy="24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8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0F2E-3076-24DB-7238-A7E5B2DD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7F498E-A7CF-1887-9400-C270A48C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4770D-5282-C16C-D768-8AA0C5BF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1783841"/>
            <a:ext cx="7252250" cy="4015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A7621-58AE-8352-CEC7-0483D0CEC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04" y="3552707"/>
            <a:ext cx="3099380" cy="224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70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10EE-1462-29DB-239C-9AD6C867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BED9FB-877A-C3E3-0A9E-BAEC41B7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0D9B9-B410-140D-0A07-605648FA1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1968941"/>
            <a:ext cx="7499968" cy="2481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76FC94-34DD-F4DF-10A6-137DCF68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12" y="3663479"/>
            <a:ext cx="3990975" cy="26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50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1C83-B051-37A3-ADDD-EE698DA8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26E5F7E8-18AF-1471-8F67-008A674FD4C6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7B4EC-A534-017C-E57D-4C839646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41" y="1687598"/>
            <a:ext cx="5942076" cy="3343656"/>
          </a:xfrm>
          <a:prstGeom prst="rect">
            <a:avLst/>
          </a:prstGeom>
        </p:spPr>
      </p:pic>
      <p:pic>
        <p:nvPicPr>
          <p:cNvPr id="9" name="Picture 8" descr="Screen Clipping">
            <a:extLst>
              <a:ext uri="{FF2B5EF4-FFF2-40B4-BE49-F238E27FC236}">
                <a16:creationId xmlns:a16="http://schemas.microsoft.com/office/drawing/2014/main" id="{42A3D4FB-DC1F-3801-1C44-85F60660E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048" y="1560562"/>
            <a:ext cx="4185920" cy="2056130"/>
          </a:xfrm>
          <a:prstGeom prst="rect">
            <a:avLst/>
          </a:prstGeom>
        </p:spPr>
      </p:pic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CE7BEC47-78C3-3D14-CB4D-1F1336485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473" y="3701870"/>
            <a:ext cx="4378961" cy="215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2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A66F-8577-A827-A926-B5D6D99D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5BCD459E-C5DB-346D-219A-64A101F2C2DF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40AD3B-8FC3-6033-7704-9C12B4388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70" y="1607730"/>
            <a:ext cx="5942076" cy="47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86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46F5-D7CA-3A70-336C-A87E1C29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7C3140D4-8E18-0E0A-6F12-3AC9EF5772DF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F4855-18C3-DC9C-412F-F673AC6D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962" y="1575253"/>
            <a:ext cx="5942076" cy="565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4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564" y="0"/>
            <a:ext cx="9601196" cy="84666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Exploring the </a:t>
            </a:r>
            <a:r>
              <a:rPr lang="en-US" b="1" dirty="0" err="1">
                <a:solidFill>
                  <a:srgbClr val="0070C0"/>
                </a:solidFill>
              </a:rPr>
              <a:t>Datset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26" y="1303871"/>
            <a:ext cx="9601196" cy="5320145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from </a:t>
            </a:r>
            <a:r>
              <a:rPr lang="en-US" sz="2600" dirty="0" err="1"/>
              <a:t>sklearn.datasets</a:t>
            </a:r>
            <a:r>
              <a:rPr lang="en-US" sz="2600" dirty="0"/>
              <a:t> import </a:t>
            </a:r>
            <a:r>
              <a:rPr lang="en-US" sz="2600" dirty="0" err="1"/>
              <a:t>load_iris</a:t>
            </a:r>
            <a:endParaRPr lang="en-US" sz="2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iris = </a:t>
            </a:r>
            <a:r>
              <a:rPr lang="en-US" sz="2600" dirty="0" err="1"/>
              <a:t>load_iris</a:t>
            </a:r>
            <a:r>
              <a:rPr lang="en-US" sz="2600" dirty="0"/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</a:t>
            </a:r>
            <a:r>
              <a:rPr lang="en-US" sz="2600" dirty="0" err="1"/>
              <a:t>iris.keys</a:t>
            </a:r>
            <a:r>
              <a:rPr lang="en-US" sz="2600" dirty="0"/>
              <a:t>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print(iris["</a:t>
            </a:r>
            <a:r>
              <a:rPr lang="en-US" sz="2600" dirty="0" err="1"/>
              <a:t>target_names</a:t>
            </a:r>
            <a:r>
              <a:rPr lang="en-US" sz="2600" dirty="0"/>
              <a:t>"])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n_samples</a:t>
            </a:r>
            <a:r>
              <a:rPr lang="en-US" sz="2600" dirty="0"/>
              <a:t>, </a:t>
            </a:r>
            <a:r>
              <a:rPr lang="en-US" sz="2600" dirty="0" err="1"/>
              <a:t>n_features</a:t>
            </a:r>
            <a:r>
              <a:rPr lang="en-US" sz="2600" dirty="0"/>
              <a:t> = </a:t>
            </a:r>
            <a:r>
              <a:rPr lang="en-US" sz="2600" dirty="0" err="1"/>
              <a:t>iris.data.shape</a:t>
            </a:r>
            <a:endParaRPr lang="en-US" sz="2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print('Number of samples:', </a:t>
            </a:r>
            <a:r>
              <a:rPr lang="en-US" sz="2600" dirty="0" err="1"/>
              <a:t>n_samples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print('Number of features:', </a:t>
            </a:r>
            <a:r>
              <a:rPr lang="en-US" sz="2600" dirty="0" err="1"/>
              <a:t>n_features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print('Feature Name:', </a:t>
            </a:r>
            <a:r>
              <a:rPr lang="en-US" sz="2600" dirty="0" err="1"/>
              <a:t>iris.feature_names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print('Target Name:', </a:t>
            </a:r>
            <a:r>
              <a:rPr lang="en-US" sz="2600" dirty="0" err="1"/>
              <a:t>iris.target_names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print("Dimension of Input",</a:t>
            </a:r>
            <a:r>
              <a:rPr lang="en-US" sz="2600" dirty="0" err="1"/>
              <a:t>iris.data.shape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print("Dimension of Output", </a:t>
            </a:r>
            <a:r>
              <a:rPr lang="en-US" sz="2600" dirty="0" err="1"/>
              <a:t>iris.target.shape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print("First 5 rows of Input:",</a:t>
            </a:r>
            <a:r>
              <a:rPr lang="en-US" sz="2600" dirty="0" err="1"/>
              <a:t>iris.data</a:t>
            </a:r>
            <a:r>
              <a:rPr lang="en-US" sz="2600" dirty="0"/>
              <a:t>[1:5])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print("Target Data:",</a:t>
            </a:r>
            <a:r>
              <a:rPr lang="en-US" sz="2600" dirty="0" err="1"/>
              <a:t>iris.target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974" y="1270520"/>
            <a:ext cx="5506881" cy="409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292" y="1343891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Pakistani Provinces Analysis</a:t>
            </a:r>
            <a:endParaRPr lang="en-US" dirty="0"/>
          </a:p>
          <a:p>
            <a:r>
              <a:rPr lang="en-US" dirty="0"/>
              <a:t>Create a dataset of 4 provinces of Pakistan with columns:</a:t>
            </a:r>
          </a:p>
          <a:p>
            <a:pPr lvl="0"/>
            <a:r>
              <a:rPr lang="en-US" dirty="0"/>
              <a:t>Province, Population (millions), Literacy Rate (%), Region (North, South, East, West).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Handle any missing values (drop one row, fill another with median).</a:t>
            </a:r>
          </a:p>
          <a:p>
            <a:pPr lvl="0"/>
            <a:r>
              <a:rPr lang="en-US" dirty="0"/>
              <a:t>Encode the Region column (Label Encoding + One-Hot Encoding).</a:t>
            </a:r>
          </a:p>
          <a:p>
            <a:pPr lvl="0"/>
            <a:r>
              <a:rPr lang="en-US" dirty="0"/>
              <a:t>Visualize population vs literacy rate using a scatter plot (label each province).</a:t>
            </a:r>
          </a:p>
          <a:p>
            <a:pPr lvl="0"/>
            <a:r>
              <a:rPr lang="en-US" dirty="0"/>
              <a:t>Detect if there is any province behaving like an </a:t>
            </a:r>
            <a:r>
              <a:rPr lang="en-US" b="1" dirty="0"/>
              <a:t>outlier</a:t>
            </a:r>
            <a:r>
              <a:rPr lang="en-US" dirty="0"/>
              <a:t> in literacy rate.</a:t>
            </a:r>
          </a:p>
        </p:txBody>
      </p:sp>
    </p:spTree>
    <p:extLst>
      <p:ext uri="{BB962C8B-B14F-4D97-AF65-F5344CB8AC3E}">
        <p14:creationId xmlns:p14="http://schemas.microsoft.com/office/powerpoint/2010/main" val="516529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230A-E686-AA1A-5BF5-12898744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06F-3D2E-88D6-F60F-1A5C2CE1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D94E-A2D3-3C56-B77C-3ED15A247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292" y="1343891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Student Performance Tracker</a:t>
            </a:r>
            <a:endParaRPr lang="en-US" dirty="0"/>
          </a:p>
          <a:p>
            <a:r>
              <a:rPr lang="en-US" dirty="0"/>
              <a:t>Generate random data for 100 students:</a:t>
            </a:r>
          </a:p>
          <a:p>
            <a:pPr lvl="0"/>
            <a:r>
              <a:rPr lang="en-US" dirty="0"/>
              <a:t>ID, Math, Science, English, Grade (A/B/C).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Handle missing marks (fill with mean).</a:t>
            </a:r>
          </a:p>
          <a:p>
            <a:pPr lvl="0"/>
            <a:r>
              <a:rPr lang="en-US" dirty="0"/>
              <a:t>Encode the categorical Grade column.</a:t>
            </a:r>
          </a:p>
          <a:p>
            <a:pPr lvl="0"/>
            <a:r>
              <a:rPr lang="en-US" dirty="0"/>
              <a:t>Plot a histogram of Math scores with 10 bins.</a:t>
            </a:r>
          </a:p>
          <a:p>
            <a:pPr lvl="0"/>
            <a:r>
              <a:rPr lang="en-US" dirty="0"/>
              <a:t>Identify if any student has an </a:t>
            </a:r>
            <a:r>
              <a:rPr lang="en-US" b="1" dirty="0"/>
              <a:t>unusually high/low total score</a:t>
            </a:r>
            <a:r>
              <a:rPr lang="en-US" dirty="0"/>
              <a:t> using a boxplot.</a:t>
            </a:r>
          </a:p>
          <a:p>
            <a:pPr lvl="0"/>
            <a:r>
              <a:rPr lang="en-US" dirty="0"/>
              <a:t>Summarize findings (e.g., which grade performed best overall).</a:t>
            </a:r>
          </a:p>
        </p:txBody>
      </p:sp>
    </p:spTree>
    <p:extLst>
      <p:ext uri="{BB962C8B-B14F-4D97-AF65-F5344CB8AC3E}">
        <p14:creationId xmlns:p14="http://schemas.microsoft.com/office/powerpoint/2010/main" val="3929797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D23E1-B2CA-4A0A-DBB9-6BF28129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EAA7-196B-3794-D8FF-2E80ACEC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07F8-C30B-DDAA-7F64-A65126011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414" y="1483039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COVID-19 Dataset Exploration</a:t>
            </a:r>
            <a:endParaRPr lang="en-US" dirty="0"/>
          </a:p>
          <a:p>
            <a:r>
              <a:rPr lang="en-US" dirty="0"/>
              <a:t>Load the online dataset:</a:t>
            </a:r>
            <a:br>
              <a:rPr lang="en-US" dirty="0"/>
            </a:br>
            <a:r>
              <a:rPr lang="en-US" dirty="0"/>
              <a:t>https://raw.githubusercontent.com/datasets/covid-19/master/data/time-series-19-covid-combined.csv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Extract only Pakistan’s data.</a:t>
            </a:r>
          </a:p>
          <a:p>
            <a:pPr lvl="0"/>
            <a:r>
              <a:rPr lang="en-US" dirty="0"/>
              <a:t>Handle missing values (if any) properly.</a:t>
            </a:r>
          </a:p>
          <a:p>
            <a:pPr lvl="0"/>
            <a:r>
              <a:rPr lang="en-US" dirty="0"/>
              <a:t>Plot a line chart showing cases over time.</a:t>
            </a:r>
          </a:p>
          <a:p>
            <a:pPr lvl="0"/>
            <a:r>
              <a:rPr lang="en-US" dirty="0"/>
              <a:t>Find the </a:t>
            </a:r>
            <a:r>
              <a:rPr lang="en-US" b="1" dirty="0"/>
              <a:t>day with the highest confirmed cases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Detect any outliers in daily cases using a boxplot.</a:t>
            </a:r>
          </a:p>
        </p:txBody>
      </p:sp>
    </p:spTree>
    <p:extLst>
      <p:ext uri="{BB962C8B-B14F-4D97-AF65-F5344CB8AC3E}">
        <p14:creationId xmlns:p14="http://schemas.microsoft.com/office/powerpoint/2010/main" val="1538031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822D-3C39-88BD-F0E0-0E086639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7D74-F36A-9D01-EDDD-959634CA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2AAC6-4FEB-28B5-35CD-325D59B70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536" y="1414068"/>
            <a:ext cx="9601196" cy="3340486"/>
          </a:xfrm>
        </p:spPr>
        <p:txBody>
          <a:bodyPr>
            <a:noAutofit/>
          </a:bodyPr>
          <a:lstStyle/>
          <a:p>
            <a:r>
              <a:rPr lang="en-US" sz="2000" b="1" dirty="0"/>
              <a:t>Multi-format Data Loading &amp; Visualization Challenge</a:t>
            </a:r>
            <a:endParaRPr lang="en-US" sz="2000" dirty="0"/>
          </a:p>
          <a:p>
            <a:r>
              <a:rPr lang="en-US" sz="2000" dirty="0"/>
              <a:t>You are provided with three small files:</a:t>
            </a:r>
          </a:p>
          <a:p>
            <a:pPr lvl="0"/>
            <a:r>
              <a:rPr lang="en-US" sz="2000" dirty="0"/>
              <a:t>students.csv (contains names and marks)</a:t>
            </a:r>
          </a:p>
          <a:p>
            <a:pPr lvl="0"/>
            <a:r>
              <a:rPr lang="en-US" sz="2000" dirty="0" err="1"/>
              <a:t>attendance.json</a:t>
            </a:r>
            <a:r>
              <a:rPr lang="en-US" sz="2000" dirty="0"/>
              <a:t> (contains student names with attendance %)</a:t>
            </a:r>
          </a:p>
          <a:p>
            <a:pPr lvl="0"/>
            <a:r>
              <a:rPr lang="en-US" sz="2000" dirty="0"/>
              <a:t>extra.xlsx (contains bonus marks per student)</a:t>
            </a:r>
          </a:p>
          <a:p>
            <a:r>
              <a:rPr lang="en-US" sz="2000" b="1" dirty="0"/>
              <a:t>Task:</a:t>
            </a:r>
            <a:endParaRPr lang="en-US" sz="2000" dirty="0"/>
          </a:p>
          <a:p>
            <a:pPr lvl="0"/>
            <a:r>
              <a:rPr lang="en-US" sz="2000" dirty="0"/>
              <a:t>Load all three files into Pandas </a:t>
            </a:r>
            <a:r>
              <a:rPr lang="en-US" sz="2000" dirty="0" err="1"/>
              <a:t>DataFrames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Merge them into a single </a:t>
            </a:r>
            <a:r>
              <a:rPr lang="en-US" sz="2000" dirty="0" err="1"/>
              <a:t>DataFrame</a:t>
            </a:r>
            <a:r>
              <a:rPr lang="en-US" sz="2000" dirty="0"/>
              <a:t> with columns: Name, Marks, Attendance, Bonus.</a:t>
            </a:r>
          </a:p>
          <a:p>
            <a:pPr lvl="0"/>
            <a:r>
              <a:rPr lang="en-US" sz="2000" dirty="0"/>
              <a:t>Create a </a:t>
            </a:r>
            <a:r>
              <a:rPr lang="en-US" sz="2000" b="1" dirty="0"/>
              <a:t>scatter plot</a:t>
            </a:r>
            <a:r>
              <a:rPr lang="en-US" sz="2000" dirty="0"/>
              <a:t> of Marks vs Attendance and highlight students with attendance &lt; 70%.</a:t>
            </a:r>
          </a:p>
          <a:p>
            <a:pPr lvl="0"/>
            <a:r>
              <a:rPr lang="en-US" sz="2000" dirty="0"/>
              <a:t>Apply one-hot encoding on Name.</a:t>
            </a:r>
          </a:p>
        </p:txBody>
      </p:sp>
    </p:spTree>
    <p:extLst>
      <p:ext uri="{BB962C8B-B14F-4D97-AF65-F5344CB8AC3E}">
        <p14:creationId xmlns:p14="http://schemas.microsoft.com/office/powerpoint/2010/main" val="3841241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FF20-9A23-BF2E-210A-5CFFA9A7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1B5A-B32B-7DA8-4855-6CFF8375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4AEA-C467-AA15-43E8-BA9F61C4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536" y="1414068"/>
            <a:ext cx="9601196" cy="3340486"/>
          </a:xfrm>
        </p:spPr>
        <p:txBody>
          <a:bodyPr>
            <a:noAutofit/>
          </a:bodyPr>
          <a:lstStyle/>
          <a:p>
            <a:r>
              <a:rPr lang="en-US" sz="1600" b="1" dirty="0"/>
              <a:t>Data Cleaning &amp; Outlier Detection with Visualization</a:t>
            </a:r>
          </a:p>
          <a:p>
            <a:r>
              <a:rPr lang="en-US" sz="1600" dirty="0"/>
              <a:t>You are given the dataset below</a:t>
            </a:r>
          </a:p>
          <a:p>
            <a:r>
              <a:rPr lang="en-US" sz="1600" dirty="0"/>
              <a:t>data = {</a:t>
            </a:r>
          </a:p>
          <a:p>
            <a:r>
              <a:rPr lang="en-US" sz="1600" dirty="0"/>
              <a:t>    "Name": ["Ahsan", "Hira", "Bilal", "Zara", "Salman", "Mahnoor"],</a:t>
            </a:r>
          </a:p>
          <a:p>
            <a:r>
              <a:rPr lang="en-US" sz="1600" dirty="0"/>
              <a:t>    "Age": [25, 27, 35, 29, None, 40],</a:t>
            </a:r>
          </a:p>
          <a:p>
            <a:r>
              <a:rPr lang="en-US" sz="1600" dirty="0"/>
              <a:t>    "Salary": [50000, None, 75000, 2000000, 60000, 90000],</a:t>
            </a:r>
          </a:p>
          <a:p>
            <a:r>
              <a:rPr lang="en-US" sz="1600" dirty="0"/>
              <a:t>    "Department": ["IT", "Finance", "IT", "HR", "Finance", "IT"]</a:t>
            </a:r>
          </a:p>
          <a:p>
            <a:r>
              <a:rPr lang="en-US" sz="1600" dirty="0"/>
              <a:t>}</a:t>
            </a:r>
          </a:p>
          <a:p>
            <a:r>
              <a:rPr lang="en-US" sz="1600" b="1" dirty="0"/>
              <a:t>Tasks:</a:t>
            </a:r>
          </a:p>
          <a:p>
            <a:r>
              <a:rPr lang="en-US" sz="1600" dirty="0"/>
              <a:t>Handle missing values properly.</a:t>
            </a:r>
          </a:p>
          <a:p>
            <a:r>
              <a:rPr lang="en-US" sz="1600" dirty="0"/>
              <a:t>Encode the categorical feature Department.</a:t>
            </a:r>
          </a:p>
          <a:p>
            <a:r>
              <a:rPr lang="en-US" sz="1600" dirty="0"/>
              <a:t>Detect outliers in the Salary column using </a:t>
            </a:r>
            <a:r>
              <a:rPr lang="en-US" sz="1600" b="1" dirty="0"/>
              <a:t>boxplot visualization</a:t>
            </a:r>
            <a:r>
              <a:rPr lang="en-US" sz="1600" dirty="0"/>
              <a:t>.</a:t>
            </a:r>
          </a:p>
          <a:p>
            <a:r>
              <a:rPr lang="en-US" sz="1600" dirty="0"/>
              <a:t>Comment on whether </a:t>
            </a:r>
            <a:r>
              <a:rPr lang="en-US" sz="1600" b="1" dirty="0"/>
              <a:t>Zara’s salary</a:t>
            </a:r>
            <a:r>
              <a:rPr lang="en-US" sz="1600" dirty="0"/>
              <a:t> should be treated as an outlier or not.</a:t>
            </a:r>
          </a:p>
        </p:txBody>
      </p:sp>
    </p:spTree>
    <p:extLst>
      <p:ext uri="{BB962C8B-B14F-4D97-AF65-F5344CB8AC3E}">
        <p14:creationId xmlns:p14="http://schemas.microsoft.com/office/powerpoint/2010/main" val="50276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AE14-9703-9770-83C3-A3138BBA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F3C1-C690-6F0A-89F0-457715F7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91D7E-82DE-1C0F-2DB6-80662193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269" y="1205346"/>
            <a:ext cx="9601196" cy="3340486"/>
          </a:xfrm>
        </p:spPr>
        <p:txBody>
          <a:bodyPr>
            <a:noAutofit/>
          </a:bodyPr>
          <a:lstStyle/>
          <a:p>
            <a:pPr lvl="0"/>
            <a:r>
              <a:rPr lang="en-US" sz="1600" dirty="0"/>
              <a:t>Explore the dataset the same way the Iris example did in this lab. Print </a:t>
            </a:r>
            <a:r>
              <a:rPr lang="en-US" dirty="0" err="1"/>
              <a:t>data.keys</a:t>
            </a:r>
            <a:r>
              <a:rPr lang="en-US" dirty="0"/>
              <a:t>()</a:t>
            </a:r>
            <a:r>
              <a:rPr lang="en-US" sz="1600" dirty="0"/>
              <a:t>, </a:t>
            </a:r>
            <a:r>
              <a:rPr lang="en-US" dirty="0" err="1"/>
              <a:t>data.target_names</a:t>
            </a:r>
            <a:r>
              <a:rPr lang="en-US" sz="1600" dirty="0"/>
              <a:t>, the number of samples and features, </a:t>
            </a:r>
            <a:r>
              <a:rPr lang="en-US" dirty="0" err="1"/>
              <a:t>data.feature_names</a:t>
            </a:r>
            <a:r>
              <a:rPr lang="en-US" sz="1600" dirty="0"/>
              <a:t>, and the shapes of </a:t>
            </a:r>
            <a:r>
              <a:rPr lang="en-US" dirty="0" err="1"/>
              <a:t>data.data</a:t>
            </a:r>
            <a:r>
              <a:rPr lang="en-US" sz="1600" dirty="0"/>
              <a:t> and </a:t>
            </a:r>
            <a:r>
              <a:rPr lang="en-US" dirty="0" err="1"/>
              <a:t>data.target</a:t>
            </a:r>
            <a:r>
              <a:rPr lang="en-US" sz="1600" dirty="0"/>
              <a:t>.</a:t>
            </a:r>
          </a:p>
          <a:p>
            <a:pPr lvl="0"/>
            <a:r>
              <a:rPr lang="en-US" sz="1600" dirty="0"/>
              <a:t>Check for missing values in </a:t>
            </a:r>
            <a:r>
              <a:rPr lang="en-US" dirty="0" err="1"/>
              <a:t>df</a:t>
            </a:r>
            <a:r>
              <a:rPr lang="en-US" sz="1600" dirty="0"/>
              <a:t>. Since this dataset has none by default, artificially introduce some missing values (set 5 random cells in the </a:t>
            </a:r>
            <a:r>
              <a:rPr lang="en-US" dirty="0"/>
              <a:t>mean radius</a:t>
            </a:r>
            <a:r>
              <a:rPr lang="en-US" sz="1600" dirty="0"/>
              <a:t> column to </a:t>
            </a:r>
            <a:r>
              <a:rPr lang="en-US" sz="1600" dirty="0" err="1"/>
              <a:t>NaN</a:t>
            </a:r>
            <a:r>
              <a:rPr lang="en-US" sz="1600" dirty="0"/>
              <a:t>) and then handle them using an appropriate method (mean or median), justifying your choice.</a:t>
            </a:r>
          </a:p>
          <a:p>
            <a:pPr lvl="0"/>
            <a:r>
              <a:rPr lang="en-US" sz="1600" dirty="0"/>
              <a:t>Check the class distribution of </a:t>
            </a:r>
            <a:r>
              <a:rPr lang="en-US" dirty="0"/>
              <a:t>target</a:t>
            </a:r>
            <a:r>
              <a:rPr lang="en-US" sz="1600" dirty="0"/>
              <a:t> (malignant vs benign). Report if the dataset is imbalanced, and if so, apply either SMOTE or class weighting, showing the class counts before and after.</a:t>
            </a:r>
          </a:p>
        </p:txBody>
      </p:sp>
    </p:spTree>
    <p:extLst>
      <p:ext uri="{BB962C8B-B14F-4D97-AF65-F5344CB8AC3E}">
        <p14:creationId xmlns:p14="http://schemas.microsoft.com/office/powerpoint/2010/main" val="448959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73CB-29D6-5EB6-F603-7D51FF35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Pick any two numeric features (for example mean radius and mean texture) and detect outliers in them using the IQR method, visualized with a boxplot.</a:t>
            </a:r>
          </a:p>
          <a:p>
            <a:pPr lvl="0"/>
            <a:r>
              <a:rPr lang="en-US" dirty="0"/>
              <a:t>Apply log transformation to mean area (a feature likely to be right skewed) and compare its distribution before and after using a histogram.</a:t>
            </a:r>
          </a:p>
          <a:p>
            <a:pPr lvl="0"/>
            <a:r>
              <a:rPr lang="en-US" dirty="0"/>
              <a:t>Apply feature scaling (</a:t>
            </a:r>
            <a:r>
              <a:rPr lang="en-US" dirty="0" err="1"/>
              <a:t>StandardScaler</a:t>
            </a:r>
            <a:r>
              <a:rPr lang="en-US" dirty="0"/>
              <a:t>) to all numeric features, and explain briefly why this step matters before feeding data into distance based models like KNN or SVM.</a:t>
            </a:r>
          </a:p>
          <a:p>
            <a:pPr lvl="0"/>
            <a:r>
              <a:rPr lang="en-US" dirty="0"/>
              <a:t>Reduce the scaled features to 2 components using PCA, then create a scatter plot of the two components colored by target, and comment on whether the two classes appear separable.</a:t>
            </a:r>
          </a:p>
          <a:p>
            <a:pPr lvl="0"/>
            <a:r>
              <a:rPr lang="en-US" dirty="0"/>
              <a:t>Train any two of the following classifiers (SVM, KNN, Random Forest, Naive Bayes) on the scaled data, and compare their accuracy.</a:t>
            </a:r>
          </a:p>
          <a:p>
            <a:pPr lvl="0"/>
            <a:r>
              <a:rPr lang="en-US" dirty="0"/>
              <a:t>In two or three sentences, explain which single preprocessing step (scaling, outlier handling, PCA, or imbalance correction) you think had the biggest impact on this dataset, and why.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6E5D87-961A-4750-D756-B0B29529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82663"/>
            <a:ext cx="9601200" cy="1303337"/>
          </a:xfrm>
        </p:spPr>
        <p:txBody>
          <a:bodyPr>
            <a:normAutofit/>
          </a:bodyPr>
          <a:lstStyle/>
          <a:p>
            <a:r>
              <a:rPr lang="en-US" dirty="0"/>
              <a:t>Activity 6 (Continue)</a:t>
            </a:r>
          </a:p>
        </p:txBody>
      </p:sp>
    </p:spTree>
    <p:extLst>
      <p:ext uri="{BB962C8B-B14F-4D97-AF65-F5344CB8AC3E}">
        <p14:creationId xmlns:p14="http://schemas.microsoft.com/office/powerpoint/2010/main" val="808426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11625</TotalTime>
  <Words>1327</Words>
  <Application>Microsoft Office PowerPoint</Application>
  <PresentationFormat>Widescreen</PresentationFormat>
  <Paragraphs>169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Garamond</vt:lpstr>
      <vt:lpstr>Organic</vt:lpstr>
      <vt:lpstr>Machine Learning LAB </vt:lpstr>
      <vt:lpstr>Python Machine Learning Steps</vt:lpstr>
      <vt:lpstr>Lab Contents</vt:lpstr>
      <vt:lpstr>Loading the Dataset</vt:lpstr>
      <vt:lpstr>Example  (Weather Data)</vt:lpstr>
      <vt:lpstr>PowerPoint Presentation</vt:lpstr>
      <vt:lpstr>Iris Dataset</vt:lpstr>
      <vt:lpstr>Loading the Dataset</vt:lpstr>
      <vt:lpstr>Loading the Dataset</vt:lpstr>
      <vt:lpstr>Loading the Dataset</vt:lpstr>
      <vt:lpstr>Loading the Dataset</vt:lpstr>
      <vt:lpstr>Loading the Dataset</vt:lpstr>
      <vt:lpstr>Loading the Dataset</vt:lpstr>
      <vt:lpstr>Loading the Dataset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</vt:lpstr>
      <vt:lpstr>Data Visualization</vt:lpstr>
      <vt:lpstr>Data Visualization</vt:lpstr>
      <vt:lpstr>Data Visualization</vt:lpstr>
      <vt:lpstr>PowerPoint Presentation</vt:lpstr>
      <vt:lpstr>PowerPoint Presentation</vt:lpstr>
      <vt:lpstr>PowerPoint Presentation</vt:lpstr>
      <vt:lpstr>Exploring the Datset</vt:lpstr>
      <vt:lpstr>Activity 1</vt:lpstr>
      <vt:lpstr>Activity 2</vt:lpstr>
      <vt:lpstr>Activity 3</vt:lpstr>
      <vt:lpstr>Activity 4</vt:lpstr>
      <vt:lpstr>Activity 5</vt:lpstr>
      <vt:lpstr>Activity 6</vt:lpstr>
      <vt:lpstr>Activity 6 (Continue)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114</cp:revision>
  <dcterms:created xsi:type="dcterms:W3CDTF">2020-04-16T04:39:44Z</dcterms:created>
  <dcterms:modified xsi:type="dcterms:W3CDTF">2026-09-14T11:10:37Z</dcterms:modified>
</cp:coreProperties>
</file>