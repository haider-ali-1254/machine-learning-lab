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notesMasterIdLst>
    <p:notesMasterId r:id="rId37"/>
  </p:notesMasterIdLst>
  <p:sldIdLst>
    <p:sldId id="256" r:id="rId3"/>
    <p:sldId id="490" r:id="rId4"/>
    <p:sldId id="653" r:id="rId5"/>
    <p:sldId id="618" r:id="rId6"/>
    <p:sldId id="626" r:id="rId7"/>
    <p:sldId id="627" r:id="rId8"/>
    <p:sldId id="628" r:id="rId9"/>
    <p:sldId id="629" r:id="rId10"/>
    <p:sldId id="630" r:id="rId11"/>
    <p:sldId id="631" r:id="rId12"/>
    <p:sldId id="632" r:id="rId13"/>
    <p:sldId id="599" r:id="rId14"/>
    <p:sldId id="510" r:id="rId15"/>
    <p:sldId id="511" r:id="rId16"/>
    <p:sldId id="732" r:id="rId17"/>
    <p:sldId id="512" r:id="rId18"/>
    <p:sldId id="699" r:id="rId19"/>
    <p:sldId id="714" r:id="rId20"/>
    <p:sldId id="713" r:id="rId21"/>
    <p:sldId id="715" r:id="rId22"/>
    <p:sldId id="701" r:id="rId23"/>
    <p:sldId id="703" r:id="rId24"/>
    <p:sldId id="716" r:id="rId25"/>
    <p:sldId id="717" r:id="rId26"/>
    <p:sldId id="726" r:id="rId27"/>
    <p:sldId id="727" r:id="rId28"/>
    <p:sldId id="728" r:id="rId29"/>
    <p:sldId id="733" r:id="rId30"/>
    <p:sldId id="692" r:id="rId31"/>
    <p:sldId id="693" r:id="rId32"/>
    <p:sldId id="694" r:id="rId33"/>
    <p:sldId id="729" r:id="rId34"/>
    <p:sldId id="730" r:id="rId35"/>
    <p:sldId id="73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66" d="100"/>
          <a:sy n="66" d="100"/>
        </p:scale>
        <p:origin x="592" y="-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#2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00AFC-574B-49BC-987D-22932097EE1B}" type="doc">
      <dgm:prSet loTypeId="urn:microsoft.com/office/officeart/2005/8/layout/vList2" loCatId="list" qsTypeId="urn:microsoft.com/office/officeart/2005/8/quickstyle/simple1#2" qsCatId="simple" csTypeId="urn:microsoft.com/office/officeart/2005/8/colors/accent1_4#2" csCatId="accent1" phldr="1"/>
      <dgm:spPr/>
      <dgm:t>
        <a:bodyPr/>
        <a:lstStyle/>
        <a:p>
          <a:endParaRPr lang="en-US"/>
        </a:p>
      </dgm:t>
    </dgm:pt>
    <dgm:pt modelId="{9DA5CFC8-AC9B-4FEF-84A4-F34FCB0F2EBC}">
      <dgm:prSet custT="1"/>
      <dgm:spPr>
        <a:solidFill>
          <a:srgbClr val="D9B247">
            <a:shade val="5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I) Univariate Linear Regression</a:t>
          </a:r>
        </a:p>
      </dgm:t>
    </dgm:pt>
    <dgm:pt modelId="{A1EAF093-13D6-4C15-A9C8-871CF98086AB}" type="parTrans" cxnId="{E153A974-6E9A-458F-8A35-747A8EA3B47B}">
      <dgm:prSet/>
      <dgm:spPr/>
      <dgm:t>
        <a:bodyPr/>
        <a:lstStyle/>
        <a:p>
          <a:endParaRPr lang="en-US"/>
        </a:p>
      </dgm:t>
    </dgm:pt>
    <dgm:pt modelId="{EB9BC4BA-64AF-4215-A782-E7BB609D94BA}" type="sibTrans" cxnId="{E153A974-6E9A-458F-8A35-747A8EA3B47B}">
      <dgm:prSet/>
      <dgm:spPr/>
      <dgm:t>
        <a:bodyPr/>
        <a:lstStyle/>
        <a:p>
          <a:endParaRPr lang="en-US"/>
        </a:p>
      </dgm:t>
    </dgm:pt>
    <dgm:pt modelId="{B1368327-E1BB-40E3-91AC-F5FC87880989}">
      <dgm:prSet custT="1"/>
      <dgm:spPr/>
      <dgm:t>
        <a:bodyPr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II) Multivariate Regression</a:t>
          </a:r>
        </a:p>
      </dgm:t>
    </dgm:pt>
    <dgm:pt modelId="{C270512B-2F72-4855-91D9-749A05C32C33}" type="parTrans" cxnId="{925D07A8-6E5E-4483-BDBF-9BD5559F507F}">
      <dgm:prSet/>
      <dgm:spPr/>
      <dgm:t>
        <a:bodyPr/>
        <a:lstStyle/>
        <a:p>
          <a:endParaRPr lang="en-US"/>
        </a:p>
      </dgm:t>
    </dgm:pt>
    <dgm:pt modelId="{81415DAC-D246-41EA-910C-F7B7EA8F9471}" type="sibTrans" cxnId="{925D07A8-6E5E-4483-BDBF-9BD5559F507F}">
      <dgm:prSet/>
      <dgm:spPr/>
      <dgm:t>
        <a:bodyPr/>
        <a:lstStyle/>
        <a:p>
          <a:endParaRPr lang="en-US"/>
        </a:p>
      </dgm:t>
    </dgm:pt>
    <dgm:pt modelId="{263AA371-D1B6-4545-94C9-E66F8E73FB45}">
      <dgm:prSet custT="1"/>
      <dgm:spPr/>
      <dgm:t>
        <a:bodyPr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2. Logistic Regression</a:t>
          </a:r>
        </a:p>
      </dgm:t>
    </dgm:pt>
    <dgm:pt modelId="{0BD4210B-14AC-4FA5-B90F-13CB3CDAEEE1}" type="parTrans" cxnId="{FCC392A2-9E72-42DA-92EB-7E12E7B768F9}">
      <dgm:prSet/>
      <dgm:spPr/>
      <dgm:t>
        <a:bodyPr/>
        <a:lstStyle/>
        <a:p>
          <a:endParaRPr lang="en-US"/>
        </a:p>
      </dgm:t>
    </dgm:pt>
    <dgm:pt modelId="{BFDEE781-D702-42AB-9F77-11027A025EA3}" type="sibTrans" cxnId="{FCC392A2-9E72-42DA-92EB-7E12E7B768F9}">
      <dgm:prSet/>
      <dgm:spPr/>
      <dgm:t>
        <a:bodyPr/>
        <a:lstStyle/>
        <a:p>
          <a:endParaRPr lang="en-US"/>
        </a:p>
      </dgm:t>
    </dgm:pt>
    <dgm:pt modelId="{7F94E5E8-07A5-46D2-A414-A95AC18A311A}">
      <dgm:prSet/>
      <dgm:spPr/>
      <dgm:t>
        <a:bodyPr/>
        <a:lstStyle/>
        <a:p>
          <a:pPr rtl="0"/>
          <a:endParaRPr lang="en-US" dirty="0"/>
        </a:p>
      </dgm:t>
    </dgm:pt>
    <dgm:pt modelId="{A3E2C6C4-646B-4929-BC14-AF78BC71DD68}" type="parTrans" cxnId="{B72CEE15-BC55-4F35-9DF7-82AA7258B492}">
      <dgm:prSet/>
      <dgm:spPr/>
      <dgm:t>
        <a:bodyPr/>
        <a:lstStyle/>
        <a:p>
          <a:endParaRPr lang="en-US"/>
        </a:p>
      </dgm:t>
    </dgm:pt>
    <dgm:pt modelId="{FD7522E6-51A2-4FE6-90CC-CE308E09E9B5}" type="sibTrans" cxnId="{B72CEE15-BC55-4F35-9DF7-82AA7258B492}">
      <dgm:prSet/>
      <dgm:spPr/>
      <dgm:t>
        <a:bodyPr/>
        <a:lstStyle/>
        <a:p>
          <a:endParaRPr lang="en-US"/>
        </a:p>
      </dgm:t>
    </dgm:pt>
    <dgm:pt modelId="{0AD0243A-FE42-48A6-834B-FAC5A9AB903A}">
      <dgm:prSet/>
      <dgm:spPr/>
      <dgm:t>
        <a:bodyPr/>
        <a:lstStyle/>
        <a:p>
          <a:pPr rtl="0"/>
          <a:r>
            <a:rPr lang="en-US" dirty="0"/>
            <a:t>3. Polynomial Regression</a:t>
          </a:r>
        </a:p>
      </dgm:t>
    </dgm:pt>
    <dgm:pt modelId="{D9135E3A-CEF6-4BBD-8DFD-4ABB2A9DAAA7}" type="parTrans" cxnId="{83B3C79B-50F5-4DC4-ABB5-74AFBF4DC9AD}">
      <dgm:prSet/>
      <dgm:spPr/>
      <dgm:t>
        <a:bodyPr/>
        <a:lstStyle/>
        <a:p>
          <a:endParaRPr lang="en-US"/>
        </a:p>
      </dgm:t>
    </dgm:pt>
    <dgm:pt modelId="{B560187F-43D9-4949-ACFC-43FCB5DA61DD}" type="sibTrans" cxnId="{83B3C79B-50F5-4DC4-ABB5-74AFBF4DC9AD}">
      <dgm:prSet/>
      <dgm:spPr/>
      <dgm:t>
        <a:bodyPr/>
        <a:lstStyle/>
        <a:p>
          <a:endParaRPr lang="en-US"/>
        </a:p>
      </dgm:t>
    </dgm:pt>
    <dgm:pt modelId="{2DF50C07-B2E0-4D84-A0DD-BE9CA5DC2537}">
      <dgm:prSet/>
      <dgm:spPr/>
      <dgm:t>
        <a:bodyPr/>
        <a:lstStyle/>
        <a:p>
          <a:pPr rtl="0"/>
          <a:r>
            <a:rPr lang="en-US" dirty="0"/>
            <a:t>1. Linear Regression</a:t>
          </a:r>
        </a:p>
      </dgm:t>
    </dgm:pt>
    <dgm:pt modelId="{10DA6916-25FF-4BA9-B278-0B3A67D6B491}" type="parTrans" cxnId="{06612175-378C-41FC-BD31-8057EDF8018F}">
      <dgm:prSet/>
      <dgm:spPr/>
      <dgm:t>
        <a:bodyPr/>
        <a:lstStyle/>
        <a:p>
          <a:endParaRPr lang="en-US"/>
        </a:p>
      </dgm:t>
    </dgm:pt>
    <dgm:pt modelId="{1E79417A-6AE6-4C7A-8AD4-89CB7BBBF9C5}" type="sibTrans" cxnId="{06612175-378C-41FC-BD31-8057EDF8018F}">
      <dgm:prSet/>
      <dgm:spPr/>
      <dgm:t>
        <a:bodyPr/>
        <a:lstStyle/>
        <a:p>
          <a:endParaRPr lang="en-US"/>
        </a:p>
      </dgm:t>
    </dgm:pt>
    <dgm:pt modelId="{51305580-5B81-40ED-8CB3-C370BA06492A}" type="pres">
      <dgm:prSet presAssocID="{44700AFC-574B-49BC-987D-22932097EE1B}" presName="linear" presStyleCnt="0">
        <dgm:presLayoutVars>
          <dgm:animLvl val="lvl"/>
          <dgm:resizeHandles val="exact"/>
        </dgm:presLayoutVars>
      </dgm:prSet>
      <dgm:spPr/>
    </dgm:pt>
    <dgm:pt modelId="{077FAE85-F4A8-45CD-A9D5-002C5E0C4E7F}" type="pres">
      <dgm:prSet presAssocID="{2DF50C07-B2E0-4D84-A0DD-BE9CA5DC25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23EA839-5B63-4057-8960-97BABFD94033}" type="pres">
      <dgm:prSet presAssocID="{1E79417A-6AE6-4C7A-8AD4-89CB7BBBF9C5}" presName="spacer" presStyleCnt="0"/>
      <dgm:spPr/>
    </dgm:pt>
    <dgm:pt modelId="{4057D249-BF78-44A7-AFC9-577321A8363D}" type="pres">
      <dgm:prSet presAssocID="{9DA5CFC8-AC9B-4FEF-84A4-F34FCB0F2EBC}" presName="parentText" presStyleLbl="node1" presStyleIdx="1" presStyleCnt="5">
        <dgm:presLayoutVars>
          <dgm:chMax val="0"/>
          <dgm:bulletEnabled val="1"/>
        </dgm:presLayoutVars>
      </dgm:prSet>
      <dgm:spPr>
        <a:xfrm>
          <a:off x="0" y="1016871"/>
          <a:ext cx="7647559" cy="844593"/>
        </a:xfrm>
        <a:prstGeom prst="roundRect">
          <a:avLst/>
        </a:prstGeom>
      </dgm:spPr>
    </dgm:pt>
    <dgm:pt modelId="{AC81078B-315F-4BD2-B512-90D6AE99AB62}" type="pres">
      <dgm:prSet presAssocID="{EB9BC4BA-64AF-4215-A782-E7BB609D94BA}" presName="spacer" presStyleCnt="0"/>
      <dgm:spPr/>
    </dgm:pt>
    <dgm:pt modelId="{6B3EA908-5C3E-4E6E-B4BF-274BAACBFC13}" type="pres">
      <dgm:prSet presAssocID="{B1368327-E1BB-40E3-91AC-F5FC8788098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225323-8431-4C06-B7DE-93924325BE7E}" type="pres">
      <dgm:prSet presAssocID="{81415DAC-D246-41EA-910C-F7B7EA8F9471}" presName="spacer" presStyleCnt="0"/>
      <dgm:spPr/>
    </dgm:pt>
    <dgm:pt modelId="{B247C9D2-294B-498B-ADB0-EE89ABA2E77B}" type="pres">
      <dgm:prSet presAssocID="{263AA371-D1B6-4545-94C9-E66F8E73FB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6E940E-D450-4C38-8331-070E649AFA26}" type="pres">
      <dgm:prSet presAssocID="{263AA371-D1B6-4545-94C9-E66F8E73FB45}" presName="childText" presStyleLbl="revTx" presStyleIdx="0" presStyleCnt="1">
        <dgm:presLayoutVars>
          <dgm:bulletEnabled val="1"/>
        </dgm:presLayoutVars>
      </dgm:prSet>
      <dgm:spPr/>
    </dgm:pt>
    <dgm:pt modelId="{CE02C4C2-100F-4069-ACFD-ABFE7B60CCAB}" type="pres">
      <dgm:prSet presAssocID="{0AD0243A-FE42-48A6-834B-FAC5A9AB903A}" presName="parentText" presStyleLbl="node1" presStyleIdx="4" presStyleCnt="5" custLinFactNeighborX="0" custLinFactNeighborY="-97615">
        <dgm:presLayoutVars>
          <dgm:chMax val="0"/>
          <dgm:bulletEnabled val="1"/>
        </dgm:presLayoutVars>
      </dgm:prSet>
      <dgm:spPr/>
    </dgm:pt>
  </dgm:ptLst>
  <dgm:cxnLst>
    <dgm:cxn modelId="{B72CEE15-BC55-4F35-9DF7-82AA7258B492}" srcId="{263AA371-D1B6-4545-94C9-E66F8E73FB45}" destId="{7F94E5E8-07A5-46D2-A414-A95AC18A311A}" srcOrd="0" destOrd="0" parTransId="{A3E2C6C4-646B-4929-BC14-AF78BC71DD68}" sibTransId="{FD7522E6-51A2-4FE6-90CC-CE308E09E9B5}"/>
    <dgm:cxn modelId="{71E0EA24-E1B5-4FFE-A160-189CB1EF3D05}" type="presOf" srcId="{0AD0243A-FE42-48A6-834B-FAC5A9AB903A}" destId="{CE02C4C2-100F-4069-ACFD-ABFE7B60CCAB}" srcOrd="0" destOrd="0" presId="urn:microsoft.com/office/officeart/2005/8/layout/vList2"/>
    <dgm:cxn modelId="{ADA88460-8D3A-4858-9930-BD6989A77E06}" type="presOf" srcId="{9DA5CFC8-AC9B-4FEF-84A4-F34FCB0F2EBC}" destId="{4057D249-BF78-44A7-AFC9-577321A8363D}" srcOrd="0" destOrd="0" presId="urn:microsoft.com/office/officeart/2005/8/layout/vList2"/>
    <dgm:cxn modelId="{B7B7396A-9433-4F94-9C66-A0737E8C2ED7}" type="presOf" srcId="{2DF50C07-B2E0-4D84-A0DD-BE9CA5DC2537}" destId="{077FAE85-F4A8-45CD-A9D5-002C5E0C4E7F}" srcOrd="0" destOrd="0" presId="urn:microsoft.com/office/officeart/2005/8/layout/vList2"/>
    <dgm:cxn modelId="{E153A974-6E9A-458F-8A35-747A8EA3B47B}" srcId="{44700AFC-574B-49BC-987D-22932097EE1B}" destId="{9DA5CFC8-AC9B-4FEF-84A4-F34FCB0F2EBC}" srcOrd="1" destOrd="0" parTransId="{A1EAF093-13D6-4C15-A9C8-871CF98086AB}" sibTransId="{EB9BC4BA-64AF-4215-A782-E7BB609D94BA}"/>
    <dgm:cxn modelId="{06612175-378C-41FC-BD31-8057EDF8018F}" srcId="{44700AFC-574B-49BC-987D-22932097EE1B}" destId="{2DF50C07-B2E0-4D84-A0DD-BE9CA5DC2537}" srcOrd="0" destOrd="0" parTransId="{10DA6916-25FF-4BA9-B278-0B3A67D6B491}" sibTransId="{1E79417A-6AE6-4C7A-8AD4-89CB7BBBF9C5}"/>
    <dgm:cxn modelId="{B704A758-DD21-4671-82C1-E1DD81BBDED8}" type="presOf" srcId="{44700AFC-574B-49BC-987D-22932097EE1B}" destId="{51305580-5B81-40ED-8CB3-C370BA06492A}" srcOrd="0" destOrd="0" presId="urn:microsoft.com/office/officeart/2005/8/layout/vList2"/>
    <dgm:cxn modelId="{8361E67E-D999-4F56-9E2E-4581AF7A9D00}" type="presOf" srcId="{263AA371-D1B6-4545-94C9-E66F8E73FB45}" destId="{B247C9D2-294B-498B-ADB0-EE89ABA2E77B}" srcOrd="0" destOrd="0" presId="urn:microsoft.com/office/officeart/2005/8/layout/vList2"/>
    <dgm:cxn modelId="{83B3C79B-50F5-4DC4-ABB5-74AFBF4DC9AD}" srcId="{44700AFC-574B-49BC-987D-22932097EE1B}" destId="{0AD0243A-FE42-48A6-834B-FAC5A9AB903A}" srcOrd="4" destOrd="0" parTransId="{D9135E3A-CEF6-4BBD-8DFD-4ABB2A9DAAA7}" sibTransId="{B560187F-43D9-4949-ACFC-43FCB5DA61DD}"/>
    <dgm:cxn modelId="{FCC392A2-9E72-42DA-92EB-7E12E7B768F9}" srcId="{44700AFC-574B-49BC-987D-22932097EE1B}" destId="{263AA371-D1B6-4545-94C9-E66F8E73FB45}" srcOrd="3" destOrd="0" parTransId="{0BD4210B-14AC-4FA5-B90F-13CB3CDAEEE1}" sibTransId="{BFDEE781-D702-42AB-9F77-11027A025EA3}"/>
    <dgm:cxn modelId="{925D07A8-6E5E-4483-BDBF-9BD5559F507F}" srcId="{44700AFC-574B-49BC-987D-22932097EE1B}" destId="{B1368327-E1BB-40E3-91AC-F5FC87880989}" srcOrd="2" destOrd="0" parTransId="{C270512B-2F72-4855-91D9-749A05C32C33}" sibTransId="{81415DAC-D246-41EA-910C-F7B7EA8F9471}"/>
    <dgm:cxn modelId="{A58E4FCC-3183-4419-99BB-E2E2D28E8153}" type="presOf" srcId="{B1368327-E1BB-40E3-91AC-F5FC87880989}" destId="{6B3EA908-5C3E-4E6E-B4BF-274BAACBFC13}" srcOrd="0" destOrd="0" presId="urn:microsoft.com/office/officeart/2005/8/layout/vList2"/>
    <dgm:cxn modelId="{D58C31DE-6323-4DB0-A33A-CA644B578B9C}" type="presOf" srcId="{7F94E5E8-07A5-46D2-A414-A95AC18A311A}" destId="{F16E940E-D450-4C38-8331-070E649AFA26}" srcOrd="0" destOrd="0" presId="urn:microsoft.com/office/officeart/2005/8/layout/vList2"/>
    <dgm:cxn modelId="{14BA91C6-A2A2-496C-8AA7-5DBE9E44057F}" type="presParOf" srcId="{51305580-5B81-40ED-8CB3-C370BA06492A}" destId="{077FAE85-F4A8-45CD-A9D5-002C5E0C4E7F}" srcOrd="0" destOrd="0" presId="urn:microsoft.com/office/officeart/2005/8/layout/vList2"/>
    <dgm:cxn modelId="{C28973B8-B407-4519-9C8B-D26867756EB9}" type="presParOf" srcId="{51305580-5B81-40ED-8CB3-C370BA06492A}" destId="{523EA839-5B63-4057-8960-97BABFD94033}" srcOrd="1" destOrd="0" presId="urn:microsoft.com/office/officeart/2005/8/layout/vList2"/>
    <dgm:cxn modelId="{409F3E11-AE48-49D7-8075-E686224760BB}" type="presParOf" srcId="{51305580-5B81-40ED-8CB3-C370BA06492A}" destId="{4057D249-BF78-44A7-AFC9-577321A8363D}" srcOrd="2" destOrd="0" presId="urn:microsoft.com/office/officeart/2005/8/layout/vList2"/>
    <dgm:cxn modelId="{3F194104-3472-43CD-820A-30C8B3BC9353}" type="presParOf" srcId="{51305580-5B81-40ED-8CB3-C370BA06492A}" destId="{AC81078B-315F-4BD2-B512-90D6AE99AB62}" srcOrd="3" destOrd="0" presId="urn:microsoft.com/office/officeart/2005/8/layout/vList2"/>
    <dgm:cxn modelId="{C5C4C2AA-1579-48B3-9E87-7D6D75F2C05B}" type="presParOf" srcId="{51305580-5B81-40ED-8CB3-C370BA06492A}" destId="{6B3EA908-5C3E-4E6E-B4BF-274BAACBFC13}" srcOrd="4" destOrd="0" presId="urn:microsoft.com/office/officeart/2005/8/layout/vList2"/>
    <dgm:cxn modelId="{1074C343-AAFA-4F4A-9A17-338209513A02}" type="presParOf" srcId="{51305580-5B81-40ED-8CB3-C370BA06492A}" destId="{6F225323-8431-4C06-B7DE-93924325BE7E}" srcOrd="5" destOrd="0" presId="urn:microsoft.com/office/officeart/2005/8/layout/vList2"/>
    <dgm:cxn modelId="{2D3772F5-9333-4F5B-901A-73AAB9A87ABE}" type="presParOf" srcId="{51305580-5B81-40ED-8CB3-C370BA06492A}" destId="{B247C9D2-294B-498B-ADB0-EE89ABA2E77B}" srcOrd="6" destOrd="0" presId="urn:microsoft.com/office/officeart/2005/8/layout/vList2"/>
    <dgm:cxn modelId="{EB00D2A1-2770-4859-931E-A7BFA6FA2B5F}" type="presParOf" srcId="{51305580-5B81-40ED-8CB3-C370BA06492A}" destId="{F16E940E-D450-4C38-8331-070E649AFA26}" srcOrd="7" destOrd="0" presId="urn:microsoft.com/office/officeart/2005/8/layout/vList2"/>
    <dgm:cxn modelId="{0AC098AB-C7BA-4E47-87E2-CB7DAAC5CDDA}" type="presParOf" srcId="{51305580-5B81-40ED-8CB3-C370BA06492A}" destId="{CE02C4C2-100F-4069-ACFD-ABFE7B60CC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FAE85-F4A8-45CD-A9D5-002C5E0C4E7F}">
      <dsp:nvSpPr>
        <dsp:cNvPr id="0" name=""/>
        <dsp:cNvSpPr/>
      </dsp:nvSpPr>
      <dsp:spPr>
        <a:xfrm>
          <a:off x="0" y="64362"/>
          <a:ext cx="7647559" cy="84240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1. Linear Regression</a:t>
          </a:r>
        </a:p>
      </dsp:txBody>
      <dsp:txXfrm>
        <a:off x="41123" y="105485"/>
        <a:ext cx="7565313" cy="760154"/>
      </dsp:txXfrm>
    </dsp:sp>
    <dsp:sp modelId="{4057D249-BF78-44A7-AFC9-577321A8363D}">
      <dsp:nvSpPr>
        <dsp:cNvPr id="0" name=""/>
        <dsp:cNvSpPr/>
      </dsp:nvSpPr>
      <dsp:spPr>
        <a:xfrm>
          <a:off x="0" y="1010442"/>
          <a:ext cx="7647559" cy="842400"/>
        </a:xfrm>
        <a:prstGeom prst="roundRect">
          <a:avLst/>
        </a:prstGeom>
        <a:solidFill>
          <a:srgbClr val="D9B247">
            <a:shade val="5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I) Univariate Linear Regression</a:t>
          </a:r>
        </a:p>
      </dsp:txBody>
      <dsp:txXfrm>
        <a:off x="41123" y="1051565"/>
        <a:ext cx="7565313" cy="760154"/>
      </dsp:txXfrm>
    </dsp:sp>
    <dsp:sp modelId="{6B3EA908-5C3E-4E6E-B4BF-274BAACBFC13}">
      <dsp:nvSpPr>
        <dsp:cNvPr id="0" name=""/>
        <dsp:cNvSpPr/>
      </dsp:nvSpPr>
      <dsp:spPr>
        <a:xfrm>
          <a:off x="0" y="195652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II) Multivariate Regression</a:t>
          </a:r>
        </a:p>
      </dsp:txBody>
      <dsp:txXfrm>
        <a:off x="41123" y="1997645"/>
        <a:ext cx="7565313" cy="760154"/>
      </dsp:txXfrm>
    </dsp:sp>
    <dsp:sp modelId="{B247C9D2-294B-498B-ADB0-EE89ABA2E77B}">
      <dsp:nvSpPr>
        <dsp:cNvPr id="0" name=""/>
        <dsp:cNvSpPr/>
      </dsp:nvSpPr>
      <dsp:spPr>
        <a:xfrm>
          <a:off x="0" y="290260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2. Logistic Regression</a:t>
          </a:r>
        </a:p>
      </dsp:txBody>
      <dsp:txXfrm>
        <a:off x="41123" y="2943725"/>
        <a:ext cx="7565313" cy="760154"/>
      </dsp:txXfrm>
    </dsp:sp>
    <dsp:sp modelId="{F16E940E-D450-4C38-8331-070E649AFA26}">
      <dsp:nvSpPr>
        <dsp:cNvPr id="0" name=""/>
        <dsp:cNvSpPr/>
      </dsp:nvSpPr>
      <dsp:spPr>
        <a:xfrm>
          <a:off x="0" y="3745002"/>
          <a:ext cx="7647559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81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800" kern="1200" dirty="0"/>
        </a:p>
      </dsp:txBody>
      <dsp:txXfrm>
        <a:off x="0" y="3745002"/>
        <a:ext cx="7647559" cy="596160"/>
      </dsp:txXfrm>
    </dsp:sp>
    <dsp:sp modelId="{CE02C4C2-100F-4069-ACFD-ABFE7B60CCAB}">
      <dsp:nvSpPr>
        <dsp:cNvPr id="0" name=""/>
        <dsp:cNvSpPr/>
      </dsp:nvSpPr>
      <dsp:spPr>
        <a:xfrm>
          <a:off x="0" y="3759220"/>
          <a:ext cx="7647559" cy="842400"/>
        </a:xfrm>
        <a:prstGeom prst="roundRect">
          <a:avLst/>
        </a:prstGeom>
        <a:solidFill>
          <a:schemeClr val="accent1">
            <a:shade val="50000"/>
            <a:hueOff val="-130922"/>
            <a:satOff val="1350"/>
            <a:lumOff val="1657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3. Polynomial Regression</a:t>
          </a:r>
        </a:p>
      </dsp:txBody>
      <dsp:txXfrm>
        <a:off x="41123" y="3800343"/>
        <a:ext cx="7565313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5" y="2708476"/>
            <a:ext cx="4417807" cy="170216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5" y="4421083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350">
                <a:solidFill>
                  <a:srgbClr val="42424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1800"/>
            </a:lvl1pPr>
          </a:lstStyle>
          <a:p>
            <a:fld id="{DB2D4653-C654-41D6-BC1A-9A2F0BA7556D}" type="datetime1">
              <a:rPr lang="en-US" smtClean="0"/>
              <a:t>9/21/2026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9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6" y="5719969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34309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0DC7-9023-4EA2-9AA7-DE0C1E5026C3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63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5" y="2900831"/>
            <a:ext cx="8849957" cy="1362075"/>
          </a:xfrm>
        </p:spPr>
        <p:txBody>
          <a:bodyPr anchor="b"/>
          <a:lstStyle>
            <a:lvl1pPr algn="l">
              <a:defRPr sz="3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5" y="4267203"/>
            <a:ext cx="8849956" cy="1520413"/>
          </a:xfrm>
        </p:spPr>
        <p:txBody>
          <a:bodyPr anchor="t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D8C7C-081D-4325-BCBE-BFB3C88CD354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89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8921-FA0E-491B-A90A-68B94B667F3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7534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6" y="2316009"/>
            <a:ext cx="4076197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7"/>
            <a:ext cx="4559808" cy="28357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2" y="2316010"/>
            <a:ext cx="4074289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7"/>
            <a:ext cx="4559808" cy="28357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25C6-2366-4B57-8901-C74185ABD5DC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2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C3304-CA81-479F-9B16-EA9383EEB5F3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69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C2DE-6833-4796-85D9-620A2A4712D5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33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130E3-EEE8-4A5B-A1C6-6BEEF1C59919}" type="datetime1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430" y="601886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60" y="856527"/>
            <a:ext cx="4120587" cy="5150734"/>
          </a:xfrm>
        </p:spPr>
        <p:txBody>
          <a:bodyPr/>
          <a:lstStyle>
            <a:lvl1pPr>
              <a:defRPr sz="1800"/>
            </a:lvl1pPr>
            <a:lvl2pPr>
              <a:defRPr sz="165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8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7"/>
            <a:ext cx="4406096" cy="1463153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7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905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2" name="Rectangle 101"/>
          <p:cNvSpPr/>
          <p:nvPr/>
        </p:nvSpPr>
        <p:spPr>
          <a:xfrm>
            <a:off x="1207430" y="601886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80" y="693795"/>
            <a:ext cx="4479497" cy="546811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2" y="4133091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4FCE-2CC8-4B1B-BA0F-0894C4701D4B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8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633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72C9-CD79-4ED9-A1BC-11297C73F37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22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1030147"/>
            <a:ext cx="1979271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6" y="1030147"/>
            <a:ext cx="7231605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A5FE-48E4-4EF0-AF0C-34745394CA0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75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B71F-5023-403B-A94C-9F092ECC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3" y="103188"/>
            <a:ext cx="10991849" cy="1314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62C891-4B3A-4537-9BC2-C367E8F600B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45611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0415-C7EC-4DC8-9FC6-FDF1831D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A6A5D-F0A7-4F13-82AA-6CD96C04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0699B-98A2-420D-8260-DBDF3C3B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79DC73A-B4EB-4E02-AB09-ADEE0E7AB1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219018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90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5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EFEFE"/>
                </a:solidFill>
              </a:defRPr>
            </a:lvl1pPr>
          </a:lstStyle>
          <a:p>
            <a:fld id="{28F7862D-8FC9-4C8D-8616-C2D3EDF8285A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3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4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5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480060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5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84353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99441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138428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6pPr>
      <a:lvl7pPr marL="128930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7pPr>
      <a:lvl8pPr marL="144018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8pPr>
      <a:lvl9pPr marL="1591056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02</a:t>
            </a:r>
          </a:p>
          <a:p>
            <a:pPr>
              <a:lnSpc>
                <a:spcPct val="90000"/>
              </a:lnSpc>
            </a:pPr>
            <a:endParaRPr lang="en-US" sz="4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BE77-7931-B20F-3E6D-B22024C80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D965B2-0E0D-041E-7248-1A82228F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46306"/>
            <a:ext cx="9601196" cy="76226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Lab Contents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C045FE8-40D7-ED0A-68B8-0E9C962D0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601153"/>
              </p:ext>
            </p:extLst>
          </p:nvPr>
        </p:nvGraphicFramePr>
        <p:xfrm>
          <a:off x="2272220" y="1610075"/>
          <a:ext cx="7647559" cy="524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389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91066-5D8D-AB05-B1E1-345508F6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16B0-3D3E-93A9-A69E-B90645E37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363" y="983235"/>
            <a:ext cx="6815669" cy="1515533"/>
          </a:xfrm>
        </p:spPr>
        <p:txBody>
          <a:bodyPr/>
          <a:lstStyle/>
          <a:p>
            <a:r>
              <a:rPr lang="en-US" sz="4000" b="1" i="0" dirty="0">
                <a:solidFill>
                  <a:srgbClr val="FF0000"/>
                </a:solidFill>
                <a:effectLst/>
                <a:latin typeface="Inter"/>
              </a:rPr>
              <a:t>Univariate Linear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2ED7E-19C8-8E89-9063-FB082BE9F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2926866"/>
            <a:ext cx="40005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3963" y="103166"/>
            <a:ext cx="4873481" cy="648737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4000" dirty="0"/>
              <a:t> Solution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172" y="761991"/>
            <a:ext cx="8017384" cy="1440878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779" y="2078171"/>
            <a:ext cx="7333238" cy="31726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31883" y="5346300"/>
                <a:ext cx="4249063" cy="58836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defTabSz="457200"/>
                <a:r>
                  <a:rPr lang="en-US" sz="2400" dirty="0">
                    <a:solidFill>
                      <a:prstClr val="black"/>
                    </a:solidFill>
                    <a:latin typeface="Cambria"/>
                  </a:rPr>
                  <a:t>w</a:t>
                </a:r>
                <a:r>
                  <a:rPr lang="en-US" sz="2400" baseline="-25000" dirty="0">
                    <a:solidFill>
                      <a:prstClr val="black"/>
                    </a:solidFill>
                    <a:latin typeface="Cambria"/>
                  </a:rPr>
                  <a:t>1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5∗66</m:t>
                            </m:r>
                          </m:e>
                        </m:d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−(15∗20) 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5∗55−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d>
                        <m:r>
                          <a:rPr lang="en-US" sz="2400" i="1" baseline="30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Cambria"/>
                  </a:rPr>
                  <a:t> =0.6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83" y="5346300"/>
                <a:ext cx="4249063" cy="588366"/>
              </a:xfrm>
              <a:prstGeom prst="rect">
                <a:avLst/>
              </a:prstGeom>
              <a:blipFill>
                <a:blip r:embed="rId4"/>
                <a:stretch>
                  <a:fillRect l="-4149" b="-8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07443" y="5399074"/>
                <a:ext cx="3855746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defTabSz="457200"/>
                <a:r>
                  <a:rPr lang="en-US" sz="2400" dirty="0">
                    <a:solidFill>
                      <a:prstClr val="white"/>
                    </a:solidFill>
                    <a:latin typeface="Cambria"/>
                  </a:rPr>
                  <a:t>w</a:t>
                </a:r>
                <a:r>
                  <a:rPr lang="en-US" sz="2400" baseline="-25000" dirty="0">
                    <a:solidFill>
                      <a:prstClr val="white"/>
                    </a:solidFill>
                    <a:latin typeface="Cambria"/>
                  </a:rPr>
                  <a:t>0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=(20−0.6</m:t>
                    </m:r>
                    <m:d>
                      <m:dPr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)/5</m:t>
                    </m:r>
                  </m:oMath>
                </a14:m>
                <a:r>
                  <a:rPr lang="en-US" sz="2400" dirty="0">
                    <a:solidFill>
                      <a:prstClr val="white"/>
                    </a:solidFill>
                    <a:latin typeface="Cambria"/>
                  </a:rPr>
                  <a:t> =2.2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443" y="5399074"/>
                <a:ext cx="38557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14052" y="5961189"/>
                <a:ext cx="4312957" cy="430887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defTabSz="457200"/>
                <a:r>
                  <a:rPr lang="en-US" sz="2800" dirty="0">
                    <a:solidFill>
                      <a:prstClr val="black"/>
                    </a:solidFill>
                    <a:latin typeface="Cambria"/>
                  </a:rPr>
                  <a:t>y</a:t>
                </a:r>
                <a:r>
                  <a:rPr lang="en-PK" sz="2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^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Cambria"/>
                  </a:rPr>
                  <a:t>2.2+0.6(2)=3.4</a:t>
                </a:r>
                <a:endParaRPr lang="en-US" sz="2800" baseline="-25000" dirty="0">
                  <a:solidFill>
                    <a:prstClr val="black"/>
                  </a:solidFill>
                  <a:latin typeface="Cambria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052" y="5961189"/>
                <a:ext cx="4312957" cy="430887"/>
              </a:xfrm>
              <a:prstGeom prst="rect">
                <a:avLst/>
              </a:prstGeom>
              <a:blipFill>
                <a:blip r:embed="rId6"/>
                <a:stretch>
                  <a:fillRect l="-4937" t="-27397" b="-4520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475A9AD-91BB-82AC-7155-1CA84EA4E40C}"/>
              </a:ext>
            </a:extLst>
          </p:cNvPr>
          <p:cNvSpPr txBox="1"/>
          <p:nvPr/>
        </p:nvSpPr>
        <p:spPr>
          <a:xfrm>
            <a:off x="3975067" y="5961189"/>
            <a:ext cx="2305879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PK" sz="24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y^=2.2+0.6x</a:t>
            </a:r>
          </a:p>
        </p:txBody>
      </p:sp>
    </p:spTree>
    <p:extLst>
      <p:ext uri="{BB962C8B-B14F-4D97-AF65-F5344CB8AC3E}">
        <p14:creationId xmlns:p14="http://schemas.microsoft.com/office/powerpoint/2010/main" val="98103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Load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10458194" cy="3508977"/>
          </a:xfrm>
        </p:spPr>
        <p:txBody>
          <a:bodyPr>
            <a:normAutofit/>
          </a:bodyPr>
          <a:lstStyle/>
          <a:p>
            <a:r>
              <a:rPr lang="en-US" sz="2800" dirty="0"/>
              <a:t>import pandas as pd</a:t>
            </a:r>
          </a:p>
          <a:p>
            <a:r>
              <a:rPr lang="en-US" sz="2800" dirty="0"/>
              <a:t>df=</a:t>
            </a:r>
            <a:r>
              <a:rPr lang="en-US" sz="2800" dirty="0" err="1"/>
              <a:t>pd.read_csv</a:t>
            </a:r>
            <a:r>
              <a:rPr lang="en-US" sz="2800" dirty="0"/>
              <a:t>("/content/drive/My Drive/</a:t>
            </a:r>
            <a:r>
              <a:rPr lang="en-US" sz="2800" dirty="0" err="1"/>
              <a:t>ML_Labs</a:t>
            </a:r>
            <a:r>
              <a:rPr lang="en-US" sz="2800" dirty="0"/>
              <a:t>/</a:t>
            </a:r>
            <a:r>
              <a:rPr lang="en-US" sz="2800" dirty="0" err="1"/>
              <a:t>DataSets</a:t>
            </a:r>
            <a:r>
              <a:rPr lang="en-US" sz="2800" dirty="0"/>
              <a:t>/headbrain.csv")</a:t>
            </a:r>
          </a:p>
          <a:p>
            <a:r>
              <a:rPr lang="en-US" sz="2800" dirty="0" err="1"/>
              <a:t>df.head</a:t>
            </a:r>
            <a:r>
              <a:rPr lang="en-US" sz="2800" dirty="0"/>
              <a:t>()</a:t>
            </a:r>
          </a:p>
          <a:p>
            <a:pPr marL="51435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6B7F0-075B-4446-9EF1-3E7059E3D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865" y="2568423"/>
            <a:ext cx="6924310" cy="350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Load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9036423" cy="3508977"/>
          </a:xfrm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# Computing X and Y</a:t>
            </a:r>
          </a:p>
          <a:p>
            <a:r>
              <a:rPr lang="en-US" sz="2800" dirty="0"/>
              <a:t>X = df['Head Size(cm^3)'].values</a:t>
            </a:r>
          </a:p>
          <a:p>
            <a:r>
              <a:rPr lang="en-US" sz="2800" dirty="0"/>
              <a:t>y = df['Brain Weight(grams)'].values</a:t>
            </a:r>
          </a:p>
        </p:txBody>
      </p:sp>
    </p:spTree>
    <p:extLst>
      <p:ext uri="{BB962C8B-B14F-4D97-AF65-F5344CB8AC3E}">
        <p14:creationId xmlns:p14="http://schemas.microsoft.com/office/powerpoint/2010/main" val="385549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Calculate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12610844" cy="4541307"/>
          </a:xfrm>
        </p:spPr>
        <p:txBody>
          <a:bodyPr>
            <a:norm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r>
              <a:rPr lang="en-US" sz="2400" dirty="0" err="1"/>
              <a:t>X_sum</a:t>
            </a:r>
            <a:r>
              <a:rPr lang="en-US" sz="2400" dirty="0"/>
              <a:t> = </a:t>
            </a:r>
            <a:r>
              <a:rPr lang="en-US" sz="2400" dirty="0" err="1"/>
              <a:t>np.sum</a:t>
            </a:r>
            <a:r>
              <a:rPr lang="en-US" sz="2400" dirty="0"/>
              <a:t>(X)</a:t>
            </a:r>
          </a:p>
          <a:p>
            <a:r>
              <a:rPr lang="en-US" sz="2400" dirty="0" err="1"/>
              <a:t>X_squared_sum</a:t>
            </a:r>
            <a:r>
              <a:rPr lang="en-US" sz="2400" dirty="0"/>
              <a:t> = </a:t>
            </a:r>
            <a:r>
              <a:rPr lang="en-US" sz="2400" dirty="0" err="1"/>
              <a:t>np.sum</a:t>
            </a:r>
            <a:r>
              <a:rPr lang="en-US" sz="2400" dirty="0"/>
              <a:t>(X * X)</a:t>
            </a:r>
          </a:p>
          <a:p>
            <a:r>
              <a:rPr lang="en-US" sz="2400" dirty="0"/>
              <a:t>n = </a:t>
            </a:r>
            <a:r>
              <a:rPr lang="en-US" sz="2400" dirty="0" err="1"/>
              <a:t>len</a:t>
            </a:r>
            <a:r>
              <a:rPr lang="en-US" sz="2400" dirty="0"/>
              <a:t>(X)</a:t>
            </a:r>
            <a:br>
              <a:rPr lang="en-US" sz="2400" dirty="0"/>
            </a:br>
            <a:r>
              <a:rPr lang="en-US" sz="2400" dirty="0"/>
              <a:t>print("Sum of X:", </a:t>
            </a:r>
            <a:r>
              <a:rPr lang="en-US" sz="2400" dirty="0" err="1"/>
              <a:t>X_sum</a:t>
            </a:r>
            <a:r>
              <a:rPr lang="en-US" sz="2400" dirty="0"/>
              <a:t>)</a:t>
            </a:r>
          </a:p>
          <a:p>
            <a:r>
              <a:rPr lang="en-US" sz="2400" dirty="0"/>
              <a:t>print("Sum of X squared:", </a:t>
            </a:r>
            <a:r>
              <a:rPr lang="en-US" sz="2400" dirty="0" err="1"/>
              <a:t>X_squared_sum</a:t>
            </a:r>
            <a:r>
              <a:rPr lang="en-US" sz="2400" dirty="0"/>
              <a:t>)</a:t>
            </a:r>
          </a:p>
          <a:p>
            <a:r>
              <a:rPr lang="en-US" sz="2400" dirty="0"/>
              <a:t>print("Length of X:", n)</a:t>
            </a:r>
          </a:p>
          <a:p>
            <a:pPr marL="51435" indent="0">
              <a:buNone/>
            </a:pPr>
            <a:endParaRPr lang="en-US" sz="2400" dirty="0"/>
          </a:p>
        </p:txBody>
      </p:sp>
      <p:pic>
        <p:nvPicPr>
          <p:cNvPr id="6" name="Picture 5" descr="Screen Clipping">
            <a:extLst>
              <a:ext uri="{FF2B5EF4-FFF2-40B4-BE49-F238E27FC236}">
                <a16:creationId xmlns:a16="http://schemas.microsoft.com/office/drawing/2014/main" id="{E20C2DA5-2D4F-4B26-AB3C-A32570997C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2" t="32651"/>
          <a:stretch/>
        </p:blipFill>
        <p:spPr>
          <a:xfrm>
            <a:off x="1592731" y="5021638"/>
            <a:ext cx="7318113" cy="970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641E43-CFA5-4E37-A544-1DF9D4FB6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1023678"/>
            <a:ext cx="5089588" cy="109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Estimate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9036423" cy="4950052"/>
          </a:xfrm>
        </p:spPr>
        <p:txBody>
          <a:bodyPr>
            <a:normAutofit fontScale="85000" lnSpcReduction="20000"/>
          </a:bodyPr>
          <a:lstStyle/>
          <a:p>
            <a:endParaRPr lang="en-US" sz="2800" dirty="0">
              <a:highlight>
                <a:srgbClr val="FFFF00"/>
              </a:highlight>
            </a:endParaRPr>
          </a:p>
          <a:p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r>
              <a:rPr lang="en-US" sz="2800" dirty="0"/>
              <a:t># Total number of values</a:t>
            </a:r>
          </a:p>
          <a:p>
            <a:r>
              <a:rPr lang="en-US" sz="2800" dirty="0"/>
              <a:t>n = </a:t>
            </a:r>
            <a:r>
              <a:rPr lang="en-US" sz="2800" dirty="0" err="1"/>
              <a:t>len</a:t>
            </a:r>
            <a:r>
              <a:rPr lang="en-US" sz="2800" dirty="0"/>
              <a:t>(X)</a:t>
            </a:r>
          </a:p>
          <a:p>
            <a:r>
              <a:rPr lang="en-US" sz="2800" dirty="0"/>
              <a:t># calculating cross-deviation and deviation about x</a:t>
            </a:r>
          </a:p>
          <a:p>
            <a:r>
              <a:rPr lang="en-US" sz="2800" dirty="0" err="1"/>
              <a:t>numer</a:t>
            </a:r>
            <a:r>
              <a:rPr lang="en-US" sz="2800" dirty="0"/>
              <a:t>=n*</a:t>
            </a:r>
            <a:r>
              <a:rPr lang="en-US" sz="2800" dirty="0" err="1"/>
              <a:t>np.sum</a:t>
            </a:r>
            <a:r>
              <a:rPr lang="en-US" sz="2800" dirty="0"/>
              <a:t>(X*y)-</a:t>
            </a:r>
            <a:r>
              <a:rPr lang="en-US" sz="2800" dirty="0" err="1"/>
              <a:t>np.sum</a:t>
            </a:r>
            <a:r>
              <a:rPr lang="en-US" sz="2800" dirty="0"/>
              <a:t>(X)*</a:t>
            </a:r>
            <a:r>
              <a:rPr lang="en-US" sz="2800" dirty="0" err="1"/>
              <a:t>np.sum</a:t>
            </a:r>
            <a:r>
              <a:rPr lang="en-US" sz="2800" dirty="0"/>
              <a:t>(y)</a:t>
            </a:r>
          </a:p>
          <a:p>
            <a:r>
              <a:rPr lang="en-US" sz="2800" dirty="0" err="1"/>
              <a:t>denom</a:t>
            </a:r>
            <a:r>
              <a:rPr lang="en-US" sz="2800" dirty="0"/>
              <a:t>=n*</a:t>
            </a:r>
            <a:r>
              <a:rPr lang="en-US" sz="2800" dirty="0" err="1"/>
              <a:t>np.sum</a:t>
            </a:r>
            <a:r>
              <a:rPr lang="en-US" sz="2800" dirty="0"/>
              <a:t>(X*X)-(</a:t>
            </a:r>
            <a:r>
              <a:rPr lang="en-US" sz="2800" dirty="0" err="1"/>
              <a:t>np.sum</a:t>
            </a:r>
            <a:r>
              <a:rPr lang="en-US" sz="2800" dirty="0"/>
              <a:t>(X))**2</a:t>
            </a:r>
          </a:p>
          <a:p>
            <a:r>
              <a:rPr lang="en-US" sz="2800" dirty="0"/>
              <a:t>w1=</a:t>
            </a:r>
            <a:r>
              <a:rPr lang="en-US" sz="2800" dirty="0" err="1"/>
              <a:t>numer</a:t>
            </a:r>
            <a:r>
              <a:rPr lang="en-US" sz="2800" dirty="0"/>
              <a:t>/</a:t>
            </a:r>
            <a:r>
              <a:rPr lang="en-US" sz="2800" dirty="0" err="1"/>
              <a:t>denom</a:t>
            </a:r>
            <a:endParaRPr lang="en-US" sz="2800" dirty="0"/>
          </a:p>
          <a:p>
            <a:r>
              <a:rPr lang="en-US" sz="2800" dirty="0"/>
              <a:t># calculating regression coefficients</a:t>
            </a:r>
          </a:p>
          <a:p>
            <a:r>
              <a:rPr lang="en-US" sz="2800" dirty="0"/>
              <a:t>w0=(</a:t>
            </a:r>
            <a:r>
              <a:rPr lang="en-US" sz="2800" dirty="0" err="1"/>
              <a:t>np.sum</a:t>
            </a:r>
            <a:r>
              <a:rPr lang="en-US" sz="2800" dirty="0"/>
              <a:t>(y)-w1*(</a:t>
            </a:r>
            <a:r>
              <a:rPr lang="en-US" sz="2800" dirty="0" err="1"/>
              <a:t>np.sum</a:t>
            </a:r>
            <a:r>
              <a:rPr lang="en-US" sz="2800" dirty="0"/>
              <a:t>(X)))/n</a:t>
            </a:r>
          </a:p>
          <a:p>
            <a:r>
              <a:rPr lang="en-US" sz="2800" dirty="0"/>
              <a:t>w1,w0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14549-9391-49F5-8C81-9D6A3E31D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93244"/>
            <a:ext cx="5924972" cy="917947"/>
          </a:xfrm>
          <a:prstGeom prst="rect">
            <a:avLst/>
          </a:prstGeom>
        </p:spPr>
      </p:pic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DA43502D-679E-D9A6-1A5B-55C912F2A9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2" t="32651"/>
          <a:stretch/>
        </p:blipFill>
        <p:spPr>
          <a:xfrm>
            <a:off x="5154439" y="1289809"/>
            <a:ext cx="6116113" cy="81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1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0875-FC75-43DD-B627-121B74B9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7304" y="0"/>
            <a:ext cx="4105054" cy="66861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Plot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CE879-F6A7-4BCA-B611-81063DAEB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709" y="543341"/>
            <a:ext cx="7633404" cy="5324896"/>
          </a:xfrm>
        </p:spPr>
        <p:txBody>
          <a:bodyPr>
            <a:noAutofit/>
          </a:bodyPr>
          <a:lstStyle/>
          <a:p>
            <a:r>
              <a:rPr lang="en-US" sz="2300" dirty="0"/>
              <a:t>import </a:t>
            </a:r>
            <a:r>
              <a:rPr lang="en-US" sz="2300" dirty="0" err="1"/>
              <a:t>matplotlib.pyplot</a:t>
            </a:r>
            <a:r>
              <a:rPr lang="en-US" sz="2300" dirty="0"/>
              <a:t> as </a:t>
            </a:r>
            <a:r>
              <a:rPr lang="en-US" sz="2300" dirty="0" err="1"/>
              <a:t>plt</a:t>
            </a:r>
            <a:endParaRPr lang="en-US" sz="2300" dirty="0"/>
          </a:p>
          <a:p>
            <a:r>
              <a:rPr lang="en-US" sz="2300" dirty="0" err="1"/>
              <a:t>max_x</a:t>
            </a:r>
            <a:r>
              <a:rPr lang="en-US" sz="2300" dirty="0"/>
              <a:t> = </a:t>
            </a:r>
            <a:r>
              <a:rPr lang="en-US" sz="2300" dirty="0" err="1"/>
              <a:t>np.max</a:t>
            </a:r>
            <a:r>
              <a:rPr lang="en-US" sz="2300" dirty="0"/>
              <a:t>(X) </a:t>
            </a:r>
          </a:p>
          <a:p>
            <a:r>
              <a:rPr lang="en-US" sz="2300" dirty="0" err="1"/>
              <a:t>min_x</a:t>
            </a:r>
            <a:r>
              <a:rPr lang="en-US" sz="2300" dirty="0"/>
              <a:t> = </a:t>
            </a:r>
            <a:r>
              <a:rPr lang="en-US" sz="2300" dirty="0" err="1"/>
              <a:t>np.min</a:t>
            </a:r>
            <a:r>
              <a:rPr lang="en-US" sz="2300" dirty="0"/>
              <a:t>(X) </a:t>
            </a:r>
          </a:p>
          <a:p>
            <a:r>
              <a:rPr lang="en-US" sz="2300" dirty="0">
                <a:highlight>
                  <a:srgbClr val="FFFF00"/>
                </a:highlight>
              </a:rPr>
              <a:t># Calculating line values x and y</a:t>
            </a:r>
          </a:p>
          <a:p>
            <a:r>
              <a:rPr lang="en-US" sz="2300" dirty="0"/>
              <a:t>x1 = </a:t>
            </a:r>
            <a:r>
              <a:rPr lang="en-US" sz="2300" dirty="0" err="1"/>
              <a:t>np.linspace</a:t>
            </a:r>
            <a:r>
              <a:rPr lang="en-US" sz="2300" dirty="0"/>
              <a:t>(</a:t>
            </a:r>
            <a:r>
              <a:rPr lang="en-US" sz="2300" dirty="0" err="1"/>
              <a:t>min_x</a:t>
            </a:r>
            <a:r>
              <a:rPr lang="en-US" sz="2300" dirty="0"/>
              <a:t>, </a:t>
            </a:r>
            <a:r>
              <a:rPr lang="en-US" sz="2300" dirty="0" err="1"/>
              <a:t>max_x</a:t>
            </a:r>
            <a:r>
              <a:rPr lang="en-US" sz="2300" dirty="0"/>
              <a:t>)</a:t>
            </a:r>
          </a:p>
          <a:p>
            <a:r>
              <a:rPr lang="en-US" sz="2300" dirty="0"/>
              <a:t>y1 = w0 + w1 * x1</a:t>
            </a:r>
          </a:p>
          <a:p>
            <a:r>
              <a:rPr lang="en-US" sz="2300" dirty="0">
                <a:highlight>
                  <a:srgbClr val="FFFF00"/>
                </a:highlight>
              </a:rPr>
              <a:t># </a:t>
            </a:r>
            <a:r>
              <a:rPr lang="en-US" sz="2300" dirty="0" err="1">
                <a:highlight>
                  <a:srgbClr val="FFFF00"/>
                </a:highlight>
              </a:rPr>
              <a:t>Ploting</a:t>
            </a:r>
            <a:r>
              <a:rPr lang="en-US" sz="2300" dirty="0">
                <a:highlight>
                  <a:srgbClr val="FFFF00"/>
                </a:highlight>
              </a:rPr>
              <a:t> Line</a:t>
            </a:r>
          </a:p>
          <a:p>
            <a:r>
              <a:rPr lang="en-US" sz="2300" dirty="0" err="1"/>
              <a:t>plt.plot</a:t>
            </a:r>
            <a:r>
              <a:rPr lang="en-US" sz="2300" dirty="0"/>
              <a:t>(x1, y1, color='red', label='Regression Line')</a:t>
            </a:r>
          </a:p>
          <a:p>
            <a:r>
              <a:rPr lang="en-US" sz="2300" dirty="0">
                <a:highlight>
                  <a:srgbClr val="FFFF00"/>
                </a:highlight>
              </a:rPr>
              <a:t># </a:t>
            </a:r>
            <a:r>
              <a:rPr lang="en-US" sz="2300" dirty="0" err="1">
                <a:highlight>
                  <a:srgbClr val="FFFF00"/>
                </a:highlight>
              </a:rPr>
              <a:t>Ploting</a:t>
            </a:r>
            <a:r>
              <a:rPr lang="en-US" sz="2300" dirty="0">
                <a:highlight>
                  <a:srgbClr val="FFFF00"/>
                </a:highlight>
              </a:rPr>
              <a:t> Scatter Points</a:t>
            </a:r>
          </a:p>
          <a:p>
            <a:r>
              <a:rPr lang="en-US" sz="2300" dirty="0" err="1"/>
              <a:t>plt.scatter</a:t>
            </a:r>
            <a:r>
              <a:rPr lang="en-US" sz="2300" dirty="0"/>
              <a:t>(X, y, c='green', label='Scatter Plot')</a:t>
            </a:r>
          </a:p>
          <a:p>
            <a:r>
              <a:rPr lang="en-US" sz="2300" dirty="0" err="1"/>
              <a:t>plt.xlabel</a:t>
            </a:r>
            <a:r>
              <a:rPr lang="en-US" sz="2300" dirty="0"/>
              <a:t>('Head Size in cm3')</a:t>
            </a:r>
          </a:p>
          <a:p>
            <a:r>
              <a:rPr lang="en-US" sz="2300" dirty="0" err="1"/>
              <a:t>plt.ylabel</a:t>
            </a:r>
            <a:r>
              <a:rPr lang="en-US" sz="2300" dirty="0"/>
              <a:t>('Brain Weight in grams')</a:t>
            </a:r>
          </a:p>
          <a:p>
            <a:r>
              <a:rPr lang="en-US" sz="2300" dirty="0" err="1"/>
              <a:t>plt.legend</a:t>
            </a:r>
            <a:r>
              <a:rPr lang="en-US" sz="2300" dirty="0"/>
              <a:t>()</a:t>
            </a:r>
          </a:p>
          <a:p>
            <a:r>
              <a:rPr lang="en-US" sz="2300" dirty="0" err="1"/>
              <a:t>plt.show</a:t>
            </a:r>
            <a:r>
              <a:rPr lang="en-US" sz="2300" dirty="0"/>
              <a:t>()</a:t>
            </a:r>
          </a:p>
          <a:p>
            <a:endParaRPr lang="en-US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E9799-942F-4BDA-BC90-E6DB124CA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288" y="1176005"/>
            <a:ext cx="4164672" cy="30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2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4FB8-2997-40D4-8793-8F9ED02D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2929FF"/>
                </a:solidFill>
              </a:rPr>
              <a:t>Calculate RMSE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D2D-12CD-491D-8E31-110A797D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# Calculating Root Mean Squares Error</a:t>
            </a:r>
          </a:p>
          <a:p>
            <a:r>
              <a:rPr lang="en-US" sz="2400" dirty="0" err="1"/>
              <a:t>rmse</a:t>
            </a:r>
            <a:r>
              <a:rPr lang="en-US" sz="2400" dirty="0"/>
              <a:t> = 0</a:t>
            </a:r>
          </a:p>
          <a:p>
            <a:r>
              <a:rPr lang="en-US" sz="2400" dirty="0"/>
              <a:t>for </a:t>
            </a:r>
            <a:r>
              <a:rPr lang="en-US" sz="2400" dirty="0" err="1"/>
              <a:t>i</a:t>
            </a:r>
            <a:r>
              <a:rPr lang="en-US" sz="2400" dirty="0"/>
              <a:t> in range(n):</a:t>
            </a:r>
          </a:p>
          <a:p>
            <a:r>
              <a:rPr lang="en-US" sz="2400" dirty="0"/>
              <a:t>    </a:t>
            </a:r>
            <a:r>
              <a:rPr lang="en-US" sz="2400" dirty="0" err="1"/>
              <a:t>y_pred</a:t>
            </a:r>
            <a:r>
              <a:rPr lang="en-US" sz="2400" dirty="0"/>
              <a:t> = w0 + w1 * X[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</a:p>
          <a:p>
            <a:r>
              <a:rPr lang="en-US" sz="2400" dirty="0"/>
              <a:t>    </a:t>
            </a:r>
            <a:r>
              <a:rPr lang="en-US" sz="2400" dirty="0" err="1"/>
              <a:t>rmse</a:t>
            </a:r>
            <a:r>
              <a:rPr lang="en-US" sz="2400" dirty="0"/>
              <a:t> += (y[</a:t>
            </a:r>
            <a:r>
              <a:rPr lang="en-US" sz="2400" dirty="0" err="1"/>
              <a:t>i</a:t>
            </a:r>
            <a:r>
              <a:rPr lang="en-US" sz="2400" dirty="0"/>
              <a:t>] - </a:t>
            </a:r>
            <a:r>
              <a:rPr lang="en-US" sz="2400" dirty="0" err="1"/>
              <a:t>y_pred</a:t>
            </a:r>
            <a:r>
              <a:rPr lang="en-US" sz="2400" dirty="0"/>
              <a:t>) ** 2</a:t>
            </a:r>
          </a:p>
          <a:p>
            <a:r>
              <a:rPr lang="en-US" sz="2400" dirty="0" err="1"/>
              <a:t>rmse</a:t>
            </a:r>
            <a:r>
              <a:rPr lang="en-US" sz="2400" dirty="0"/>
              <a:t> = </a:t>
            </a:r>
            <a:r>
              <a:rPr lang="en-US" sz="2400" dirty="0" err="1"/>
              <a:t>np.sqrt</a:t>
            </a:r>
            <a:r>
              <a:rPr lang="en-US" sz="2400" dirty="0"/>
              <a:t>(</a:t>
            </a:r>
            <a:r>
              <a:rPr lang="en-US" sz="2400" dirty="0" err="1"/>
              <a:t>rmse</a:t>
            </a:r>
            <a:r>
              <a:rPr lang="en-US" sz="2400" dirty="0"/>
              <a:t>/n)</a:t>
            </a:r>
          </a:p>
          <a:p>
            <a:r>
              <a:rPr lang="en-US" sz="2400" dirty="0"/>
              <a:t>print("RMSE=",</a:t>
            </a:r>
            <a:r>
              <a:rPr lang="en-US" sz="2400" dirty="0" err="1"/>
              <a:t>rmse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DEFA3-4B9F-41FD-AE0F-67940D51B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06" y="4374610"/>
            <a:ext cx="2895940" cy="842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5927D7-855F-4C5C-9CB7-B59FA983B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394" y="2483390"/>
            <a:ext cx="383320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4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4FB8-2997-40D4-8793-8F9ED02D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55" y="245785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2929FF"/>
                </a:solidFill>
              </a:rPr>
              <a:t>Calculating R2 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D2D-12CD-491D-8E31-110A797D7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078" y="1207078"/>
            <a:ext cx="9036423" cy="4443844"/>
          </a:xfrm>
        </p:spPr>
        <p:txBody>
          <a:bodyPr>
            <a:noAutofit/>
          </a:bodyPr>
          <a:lstStyle/>
          <a:p>
            <a:r>
              <a:rPr lang="en-US" sz="2800" dirty="0" err="1"/>
              <a:t>ss_tot</a:t>
            </a:r>
            <a:r>
              <a:rPr lang="en-US" sz="2800" dirty="0"/>
              <a:t> = 0</a:t>
            </a:r>
          </a:p>
          <a:p>
            <a:r>
              <a:rPr lang="en-US" sz="2800" dirty="0" err="1"/>
              <a:t>ss_res</a:t>
            </a:r>
            <a:r>
              <a:rPr lang="en-US" sz="2800" dirty="0"/>
              <a:t> = 0</a:t>
            </a:r>
          </a:p>
          <a:p>
            <a:r>
              <a:rPr lang="en-US" sz="2800" dirty="0" err="1"/>
              <a:t>y_mean</a:t>
            </a:r>
            <a:r>
              <a:rPr lang="en-US" sz="2800" dirty="0"/>
              <a:t>=</a:t>
            </a:r>
            <a:r>
              <a:rPr lang="en-US" sz="2800" dirty="0" err="1"/>
              <a:t>np.mean</a:t>
            </a:r>
            <a:r>
              <a:rPr lang="en-US" sz="2800" dirty="0"/>
              <a:t>(y)</a:t>
            </a:r>
          </a:p>
          <a:p>
            <a:r>
              <a:rPr lang="en-US" sz="2800" dirty="0"/>
              <a:t>for </a:t>
            </a:r>
            <a:r>
              <a:rPr lang="en-US" sz="2800" dirty="0" err="1"/>
              <a:t>i</a:t>
            </a:r>
            <a:r>
              <a:rPr lang="en-US" sz="2800" dirty="0"/>
              <a:t> in range(n):</a:t>
            </a:r>
          </a:p>
          <a:p>
            <a:r>
              <a:rPr lang="en-US" sz="2800" dirty="0"/>
              <a:t>    </a:t>
            </a:r>
            <a:r>
              <a:rPr lang="en-US" sz="2800" dirty="0" err="1"/>
              <a:t>y_pred</a:t>
            </a:r>
            <a:r>
              <a:rPr lang="en-US" sz="2800" dirty="0"/>
              <a:t> = w0 + w1 * X[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</a:p>
          <a:p>
            <a:r>
              <a:rPr lang="en-US" sz="2800" dirty="0"/>
              <a:t>    </a:t>
            </a:r>
            <a:r>
              <a:rPr lang="en-US" sz="2800" dirty="0" err="1"/>
              <a:t>ss_tot</a:t>
            </a:r>
            <a:r>
              <a:rPr lang="en-US" sz="2800" dirty="0"/>
              <a:t> += (y[</a:t>
            </a:r>
            <a:r>
              <a:rPr lang="en-US" sz="2800" dirty="0" err="1"/>
              <a:t>i</a:t>
            </a:r>
            <a:r>
              <a:rPr lang="en-US" sz="2800" dirty="0"/>
              <a:t>] -</a:t>
            </a:r>
            <a:r>
              <a:rPr lang="en-US" sz="2800" dirty="0" err="1"/>
              <a:t>y_mean</a:t>
            </a:r>
            <a:r>
              <a:rPr lang="en-US" sz="2800" dirty="0"/>
              <a:t> ) ** 2</a:t>
            </a:r>
          </a:p>
          <a:p>
            <a:r>
              <a:rPr lang="en-US" sz="2800" dirty="0"/>
              <a:t>    </a:t>
            </a:r>
            <a:r>
              <a:rPr lang="en-US" sz="2800" dirty="0" err="1"/>
              <a:t>ss_res</a:t>
            </a:r>
            <a:r>
              <a:rPr lang="en-US" sz="2800" dirty="0"/>
              <a:t> += (y[</a:t>
            </a:r>
            <a:r>
              <a:rPr lang="en-US" sz="2800" dirty="0" err="1"/>
              <a:t>i</a:t>
            </a:r>
            <a:r>
              <a:rPr lang="en-US" sz="2800" dirty="0"/>
              <a:t>] - </a:t>
            </a:r>
            <a:r>
              <a:rPr lang="en-US" sz="2800" dirty="0" err="1"/>
              <a:t>y_pred</a:t>
            </a:r>
            <a:r>
              <a:rPr lang="en-US" sz="2800" dirty="0"/>
              <a:t>) ** 2</a:t>
            </a:r>
          </a:p>
          <a:p>
            <a:r>
              <a:rPr lang="en-US" sz="2800" dirty="0"/>
              <a:t>r2 = 1 - (</a:t>
            </a:r>
            <a:r>
              <a:rPr lang="en-US" sz="2800" dirty="0" err="1"/>
              <a:t>ss_res</a:t>
            </a:r>
            <a:r>
              <a:rPr lang="en-US" sz="2800" dirty="0"/>
              <a:t>/</a:t>
            </a:r>
            <a:r>
              <a:rPr lang="en-US" sz="2800" dirty="0" err="1"/>
              <a:t>ss_tot</a:t>
            </a:r>
            <a:r>
              <a:rPr lang="en-US" sz="2800" dirty="0"/>
              <a:t>)</a:t>
            </a:r>
          </a:p>
          <a:p>
            <a:r>
              <a:rPr lang="en-US" sz="2800" dirty="0"/>
              <a:t>print("R2 Score=",r2)</a:t>
            </a:r>
          </a:p>
        </p:txBody>
      </p:sp>
      <p:pic>
        <p:nvPicPr>
          <p:cNvPr id="1026" name="Picture 2" descr="R-Squared: Formula Explanation. We all must have seen these terms… | by  Saurabh Gupta | Analytics Vidhya | Medium">
            <a:extLst>
              <a:ext uri="{FF2B5EF4-FFF2-40B4-BE49-F238E27FC236}">
                <a16:creationId xmlns:a16="http://schemas.microsoft.com/office/drawing/2014/main" id="{2CE49BD5-089A-4E41-8FAC-6AE62B5C4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765" y="1853840"/>
            <a:ext cx="3625330" cy="98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1FF194-B98D-4DB9-9CF1-559C38EEC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73" y="4016335"/>
            <a:ext cx="4411684" cy="97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19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8EA5E9-C245-4370-8080-772C80A3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363" y="1028700"/>
            <a:ext cx="7834871" cy="85725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MULTIVARIATE LINEAR REGRESSION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8C412-8767-449F-A278-901E48B1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363" y="2907423"/>
            <a:ext cx="8872536" cy="2631733"/>
          </a:xfrm>
        </p:spPr>
        <p:txBody>
          <a:bodyPr>
            <a:noAutofit/>
          </a:bodyPr>
          <a:lstStyle/>
          <a:p>
            <a:r>
              <a:rPr lang="en-US" dirty="0"/>
              <a:t>Real world problems rarely depend on just one input. Multivariate Linear Regression extends the same idea to many input variables at once</a:t>
            </a:r>
            <a:endParaRPr lang="en-US" sz="3200" dirty="0"/>
          </a:p>
        </p:txBody>
      </p:sp>
      <p:pic>
        <p:nvPicPr>
          <p:cNvPr id="8" name="Picture 7" descr="A picture containing object, antenna, clock&#10;&#10;Description automatically generated">
            <a:extLst>
              <a:ext uri="{FF2B5EF4-FFF2-40B4-BE49-F238E27FC236}">
                <a16:creationId xmlns:a16="http://schemas.microsoft.com/office/drawing/2014/main" id="{E5EBEAAE-B8F6-4A51-A22B-F37D244DB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111" y="3911049"/>
            <a:ext cx="6610470" cy="124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7008" y="427382"/>
            <a:ext cx="4731027" cy="66418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rgbClr val="2929FF"/>
                </a:solidFill>
              </a:rPr>
              <a:t>MULTIVARIATE LINEAR REGRESSION</a:t>
            </a:r>
            <a:endParaRPr lang="en-US" sz="20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8"/>
          <a:stretch>
            <a:fillRect/>
          </a:stretch>
        </p:blipFill>
        <p:spPr>
          <a:xfrm>
            <a:off x="6301409" y="4353163"/>
            <a:ext cx="5355014" cy="20078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603" y="1330663"/>
            <a:ext cx="10450286" cy="3486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2800" b="1" dirty="0">
                <a:solidFill>
                  <a:srgbClr val="C99CC6"/>
                </a:solidFill>
                <a:latin typeface="Courier New" panose="02070309020205020404" pitchFamily="49" charset="0"/>
              </a:rPr>
              <a:t>import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 pandas </a:t>
            </a:r>
            <a:r>
              <a:rPr lang="en-US" sz="2800" b="1" dirty="0">
                <a:solidFill>
                  <a:srgbClr val="C99CC6"/>
                </a:solidFill>
                <a:latin typeface="Courier New" panose="02070309020205020404" pitchFamily="49" charset="0"/>
              </a:rPr>
              <a:t>as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ct val="113095"/>
              </a:lnSpc>
              <a:buNone/>
            </a:pP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df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pd.read_csv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CE9178"/>
                </a:solidFill>
                <a:latin typeface="Courier New" panose="02070309020205020404" pitchFamily="49" charset="0"/>
              </a:rPr>
              <a:t>"/content/Admission_Predict.csv"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28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coulumns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df.columns</a:t>
            </a:r>
            <a:endParaRPr lang="en-US" sz="28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df.drop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sz="2800" b="1" dirty="0" err="1">
                <a:solidFill>
                  <a:srgbClr val="CE9178"/>
                </a:solidFill>
                <a:latin typeface="Courier New" panose="02070309020205020404" pitchFamily="49" charset="0"/>
              </a:rPr>
              <a:t>Serial#"</a:t>
            </a:r>
            <a:r>
              <a:rPr lang="en-US" sz="2800" b="1" dirty="0" err="1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axis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US" sz="2800" b="1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inplace=</a:t>
            </a:r>
            <a:r>
              <a:rPr lang="en-US" sz="2800" b="1" dirty="0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28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y = </a:t>
            </a: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df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2800" b="1" dirty="0">
                <a:solidFill>
                  <a:srgbClr val="CE9178"/>
                </a:solidFill>
                <a:latin typeface="Courier New" panose="02070309020205020404" pitchFamily="49" charset="0"/>
              </a:rPr>
              <a:t>'Chance of Admit'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US" sz="28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df.drop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CE9178"/>
                </a:solidFill>
                <a:latin typeface="Courier New" panose="02070309020205020404" pitchFamily="49" charset="0"/>
              </a:rPr>
              <a:t>"Chance of </a:t>
            </a:r>
            <a:r>
              <a:rPr lang="en-US" sz="2800" b="1" dirty="0" err="1">
                <a:solidFill>
                  <a:srgbClr val="CE9178"/>
                </a:solidFill>
                <a:latin typeface="Courier New" panose="02070309020205020404" pitchFamily="49" charset="0"/>
              </a:rPr>
              <a:t>Admit"</a:t>
            </a:r>
            <a:r>
              <a:rPr lang="en-US" sz="2800" b="1" dirty="0" err="1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axis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US" sz="2800" b="1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inplace=</a:t>
            </a:r>
            <a:r>
              <a:rPr lang="en-US" sz="2800" b="1" dirty="0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28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df.head</a:t>
            </a:r>
            <a:r>
              <a:rPr lang="en-US" sz="2800" b="1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sz="2800" b="1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0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060" y="1225801"/>
            <a:ext cx="9601196" cy="3318936"/>
          </a:xfrm>
        </p:spPr>
        <p:txBody>
          <a:bodyPr>
            <a:noAutofit/>
          </a:bodyPr>
          <a:lstStyle/>
          <a:p>
            <a:r>
              <a:rPr lang="en-US" sz="1800" dirty="0"/>
              <a:t>import </a:t>
            </a:r>
            <a:r>
              <a:rPr lang="en-US" sz="1800" dirty="0" err="1"/>
              <a:t>matplotlib.pyplot</a:t>
            </a:r>
            <a:r>
              <a:rPr lang="en-US" sz="1800" dirty="0"/>
              <a:t> as </a:t>
            </a:r>
            <a:r>
              <a:rPr lang="en-US" sz="1800" dirty="0" err="1"/>
              <a:t>plt</a:t>
            </a:r>
            <a:endParaRPr lang="en-US" sz="1800" dirty="0"/>
          </a:p>
          <a:p>
            <a:r>
              <a:rPr lang="en-US" sz="1800" dirty="0"/>
              <a:t>from </a:t>
            </a:r>
            <a:r>
              <a:rPr lang="en-US" sz="1800" dirty="0" err="1"/>
              <a:t>sklearn.linear_model</a:t>
            </a:r>
            <a:r>
              <a:rPr lang="en-US" sz="1800" dirty="0"/>
              <a:t> import </a:t>
            </a:r>
            <a:r>
              <a:rPr lang="en-US" sz="1800" dirty="0" err="1"/>
              <a:t>LinearRegression</a:t>
            </a:r>
            <a:endParaRPr lang="en-US" sz="1800" dirty="0"/>
          </a:p>
          <a:p>
            <a:r>
              <a:rPr lang="en-US" sz="1800" dirty="0"/>
              <a:t># Initialize and train the linear regression model</a:t>
            </a:r>
          </a:p>
          <a:p>
            <a:r>
              <a:rPr lang="en-US" sz="1800" dirty="0" err="1"/>
              <a:t>simple_lr</a:t>
            </a:r>
            <a:r>
              <a:rPr lang="en-US" sz="1800" dirty="0"/>
              <a:t> = </a:t>
            </a:r>
            <a:r>
              <a:rPr lang="en-US" sz="1800" dirty="0" err="1"/>
              <a:t>LinearRegression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simple_lr.fit</a:t>
            </a:r>
            <a:r>
              <a:rPr lang="en-US" sz="1800" dirty="0"/>
              <a:t>(</a:t>
            </a:r>
            <a:r>
              <a:rPr lang="en-US" sz="1800" dirty="0" err="1"/>
              <a:t>df</a:t>
            </a:r>
            <a:r>
              <a:rPr lang="en-US" sz="1800" dirty="0"/>
              <a:t>[['GRE Score']], y)</a:t>
            </a:r>
          </a:p>
          <a:p>
            <a:r>
              <a:rPr lang="en-US" sz="1800" dirty="0" err="1"/>
              <a:t>plt.scatter</a:t>
            </a:r>
            <a:r>
              <a:rPr lang="en-US" sz="1800" dirty="0"/>
              <a:t>(</a:t>
            </a:r>
            <a:r>
              <a:rPr lang="en-US" sz="1800" dirty="0" err="1"/>
              <a:t>df</a:t>
            </a:r>
            <a:r>
              <a:rPr lang="en-US" sz="1800" dirty="0"/>
              <a:t>['GRE Score'], y, color='green', label='Actual Data', alpha=0.5)</a:t>
            </a:r>
          </a:p>
          <a:p>
            <a:r>
              <a:rPr lang="en-US" sz="1800" dirty="0" err="1"/>
              <a:t>plt.plot</a:t>
            </a:r>
            <a:r>
              <a:rPr lang="en-US" sz="1800" dirty="0"/>
              <a:t>(</a:t>
            </a:r>
            <a:r>
              <a:rPr lang="en-US" sz="1800" dirty="0" err="1"/>
              <a:t>df</a:t>
            </a:r>
            <a:r>
              <a:rPr lang="en-US" sz="1800" dirty="0"/>
              <a:t>['GRE Score'], </a:t>
            </a:r>
            <a:r>
              <a:rPr lang="en-US" sz="1800" dirty="0" err="1"/>
              <a:t>simple_lr.predict</a:t>
            </a:r>
            <a:r>
              <a:rPr lang="en-US" sz="1800" dirty="0"/>
              <a:t>(</a:t>
            </a:r>
            <a:r>
              <a:rPr lang="en-US" sz="1800" dirty="0" err="1"/>
              <a:t>df</a:t>
            </a:r>
            <a:r>
              <a:rPr lang="en-US" sz="1800" dirty="0"/>
              <a:t>[['GRE Score']]), color='red', linewidth=3, label='Regression Line')</a:t>
            </a:r>
          </a:p>
          <a:p>
            <a:r>
              <a:rPr lang="en-US" sz="1800" dirty="0" err="1"/>
              <a:t>plt.xlabel</a:t>
            </a:r>
            <a:r>
              <a:rPr lang="en-US" sz="1800" dirty="0"/>
              <a:t>('GRE Score')</a:t>
            </a:r>
          </a:p>
          <a:p>
            <a:r>
              <a:rPr lang="en-US" sz="1800" dirty="0" err="1"/>
              <a:t>plt.ylabel</a:t>
            </a:r>
            <a:r>
              <a:rPr lang="en-US" sz="1800" dirty="0"/>
              <a:t>('Admission chance')</a:t>
            </a:r>
          </a:p>
          <a:p>
            <a:r>
              <a:rPr lang="en-US" sz="1800" dirty="0" err="1"/>
              <a:t>plt.title</a:t>
            </a:r>
            <a:r>
              <a:rPr lang="en-US" sz="1800" dirty="0"/>
              <a:t>('GRE Score vs Admission chance')</a:t>
            </a:r>
          </a:p>
          <a:p>
            <a:r>
              <a:rPr lang="en-US" sz="1800" dirty="0" err="1"/>
              <a:t>plt.legend</a:t>
            </a:r>
            <a:r>
              <a:rPr lang="en-US" sz="1800" dirty="0"/>
              <a:t>()</a:t>
            </a:r>
          </a:p>
          <a:p>
            <a:r>
              <a:rPr lang="en-US" sz="1800" dirty="0" err="1"/>
              <a:t>plt.show</a:t>
            </a:r>
            <a:r>
              <a:rPr lang="en-US" sz="1800" dirty="0"/>
              <a:t>()</a:t>
            </a: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493E42-1770-DCD7-35E5-1C19E2373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264" y="4199390"/>
            <a:ext cx="3214622" cy="257963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C7E741C-E24A-42CC-BB38-0BEAF2DA3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7008" y="427382"/>
            <a:ext cx="4731027" cy="66418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rgbClr val="2929FF"/>
                </a:solidFill>
              </a:rPr>
              <a:t>MULTIVARIATE LINEAR REGRESSION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4065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711D9-D562-D5FC-091F-3AB781A18926}"/>
              </a:ext>
            </a:extLst>
          </p:cNvPr>
          <p:cNvSpPr txBox="1"/>
          <p:nvPr/>
        </p:nvSpPr>
        <p:spPr>
          <a:xfrm>
            <a:off x="1309480" y="1004586"/>
            <a:ext cx="91431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import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matplotlib.pyplot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as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plt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from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sklearn.linear_model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import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LinearRegression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# Instantiate and train a multivariate linear regression model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lr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LinearRegression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lr.fit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x_train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y_train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coefficients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lr.coef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_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features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df.columns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plt.figure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figsize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=(8, 5))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plt.barh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(features, coefficients, color='teal')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plt.xlabel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('Coefficient Value (Weight)')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plt.title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('Feature Importance in Multivariate Linear Regression')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plt.axvline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(x=0, color='black', linewidth=0.8)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plt.show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()</a:t>
            </a:r>
            <a:endParaRPr lang="en-US" sz="105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F2A89-CF46-8976-EB42-378D073BC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226" y="2792016"/>
            <a:ext cx="4605137" cy="283353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72FAD64-6E81-408A-DE56-3546669C71D3}"/>
              </a:ext>
            </a:extLst>
          </p:cNvPr>
          <p:cNvSpPr txBox="1">
            <a:spLocks/>
          </p:cNvSpPr>
          <p:nvPr/>
        </p:nvSpPr>
        <p:spPr>
          <a:xfrm>
            <a:off x="5387008" y="427382"/>
            <a:ext cx="4731027" cy="66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>
                <a:solidFill>
                  <a:srgbClr val="2929FF"/>
                </a:solidFill>
              </a:rPr>
              <a:t>MULTIVARIATE LINEAR REGRESSION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17103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471" y="1683373"/>
            <a:ext cx="10123712" cy="3318936"/>
          </a:xfrm>
        </p:spPr>
        <p:txBody>
          <a:bodyPr>
            <a:noAutofit/>
          </a:bodyPr>
          <a:lstStyle/>
          <a:p>
            <a:r>
              <a:rPr lang="en-US" sz="2800" dirty="0"/>
              <a:t>from </a:t>
            </a:r>
            <a:r>
              <a:rPr lang="en-US" sz="2800" dirty="0" err="1"/>
              <a:t>sklearn</a:t>
            </a:r>
            <a:r>
              <a:rPr lang="en-US" sz="2800" dirty="0"/>
              <a:t> import metrics</a:t>
            </a:r>
          </a:p>
          <a:p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pPr marL="0" indent="0">
              <a:buNone/>
            </a:pPr>
            <a:r>
              <a:rPr lang="en-US" sz="2800" dirty="0" err="1"/>
              <a:t>x_train</a:t>
            </a:r>
            <a:r>
              <a:rPr lang="en-US" sz="2800" dirty="0"/>
              <a:t>, </a:t>
            </a:r>
            <a:r>
              <a:rPr lang="en-US" sz="2800" dirty="0" err="1"/>
              <a:t>x_test</a:t>
            </a:r>
            <a:r>
              <a:rPr lang="en-US" sz="2800" dirty="0"/>
              <a:t>, </a:t>
            </a:r>
            <a:r>
              <a:rPr lang="en-US" sz="2800" dirty="0" err="1"/>
              <a:t>y_train</a:t>
            </a:r>
            <a:r>
              <a:rPr lang="en-US" sz="2800" dirty="0"/>
              <a:t>, </a:t>
            </a:r>
            <a:r>
              <a:rPr lang="en-US" sz="2800" dirty="0" err="1"/>
              <a:t>y_test</a:t>
            </a:r>
            <a:r>
              <a:rPr lang="en-US" sz="2800" dirty="0"/>
              <a:t> = </a:t>
            </a:r>
            <a:r>
              <a:rPr lang="en-US" sz="2800" dirty="0" err="1"/>
              <a:t>train_test_split</a:t>
            </a:r>
            <a:r>
              <a:rPr lang="en-US" sz="2800" dirty="0"/>
              <a:t>(</a:t>
            </a:r>
            <a:r>
              <a:rPr lang="en-US" sz="2800" dirty="0" err="1"/>
              <a:t>df</a:t>
            </a:r>
            <a:r>
              <a:rPr lang="en-US" sz="2800" dirty="0"/>
              <a:t>, y, </a:t>
            </a:r>
            <a:r>
              <a:rPr lang="en-US" sz="2800" dirty="0" err="1"/>
              <a:t>test_size</a:t>
            </a:r>
            <a:r>
              <a:rPr lang="en-US" sz="2800" dirty="0"/>
              <a:t>=0.2)</a:t>
            </a:r>
          </a:p>
          <a:p>
            <a:r>
              <a:rPr lang="en-US" sz="2800" dirty="0" err="1"/>
              <a:t>rmse</a:t>
            </a:r>
            <a:r>
              <a:rPr lang="en-US" sz="2800" dirty="0"/>
              <a:t> = </a:t>
            </a:r>
            <a:r>
              <a:rPr lang="en-US" sz="2800" dirty="0" err="1"/>
              <a:t>np.sqrt</a:t>
            </a:r>
            <a:r>
              <a:rPr lang="en-US" sz="2800" dirty="0"/>
              <a:t>(</a:t>
            </a:r>
            <a:r>
              <a:rPr lang="en-US" sz="2800" dirty="0" err="1"/>
              <a:t>metrics.mean_squared_error</a:t>
            </a:r>
            <a:r>
              <a:rPr lang="en-US" sz="2800" dirty="0"/>
              <a:t>(</a:t>
            </a:r>
            <a:r>
              <a:rPr lang="en-US" sz="2800" dirty="0" err="1"/>
              <a:t>y_test</a:t>
            </a:r>
            <a:r>
              <a:rPr lang="en-US" sz="2800" dirty="0"/>
              <a:t>, pred))</a:t>
            </a:r>
          </a:p>
          <a:p>
            <a:r>
              <a:rPr lang="en-US" sz="2800" dirty="0"/>
              <a:t>print("RMSE:", </a:t>
            </a:r>
            <a:r>
              <a:rPr lang="en-US" sz="2800" dirty="0" err="1"/>
              <a:t>rmse</a:t>
            </a:r>
            <a:r>
              <a:rPr lang="en-US" sz="2800" dirty="0"/>
              <a:t>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44C13A-D455-B523-BB62-0DD9895D0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7008" y="427382"/>
            <a:ext cx="4731027" cy="66418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rgbClr val="2929FF"/>
                </a:solidFill>
              </a:rPr>
              <a:t>MULTIVARIATE LINEAR REGRESSION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757704-A00D-A4C8-9C8B-1E6276718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252" y="5002309"/>
            <a:ext cx="4973339" cy="85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1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1E5C-048A-4021-AAD3-327D2BD4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Logistic Regression (Scratch)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C570-4124-40E2-A2FB-030B7E21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757" y="2556932"/>
            <a:ext cx="10659086" cy="3318936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Logistic regression is a statistical and machine learning technique used for classification problems, where the goal is to predict a categorical outcome, most commonly a binary outcome (yes/no, 0/1, pass/fail), based on one or more independent variables</a:t>
            </a:r>
          </a:p>
          <a:p>
            <a:r>
              <a:rPr lang="en-US" sz="3200" dirty="0"/>
              <a:t>linear regression predicts values with a straight line, while logistic regression predicts categories, and the output curve is not straight, it is S shaped, passes it through a special function called the sigmoid function, which converts any number into a </a:t>
            </a:r>
            <a:r>
              <a:rPr lang="en-GB" sz="3200" dirty="0"/>
              <a:t>probability range of 0-1.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9066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51" y="1484243"/>
            <a:ext cx="11029119" cy="4391625"/>
          </a:xfrm>
        </p:spPr>
        <p:txBody>
          <a:bodyPr>
            <a:noAutofit/>
          </a:bodyPr>
          <a:lstStyle/>
          <a:p>
            <a:r>
              <a:rPr lang="en-GB" sz="2000" dirty="0"/>
              <a:t>in linear relation we can draw straight line to classify but in this we can’t.</a:t>
            </a:r>
          </a:p>
          <a:p>
            <a:r>
              <a:rPr lang="en-GB" sz="2000" dirty="0"/>
              <a:t> The outcome is form of s.</a:t>
            </a:r>
          </a:p>
          <a:p>
            <a:r>
              <a:rPr lang="en-GB" sz="2000" dirty="0"/>
              <a:t>Backend working sigmoid or logit function</a:t>
            </a:r>
          </a:p>
          <a:p>
            <a:r>
              <a:rPr lang="en-GB" sz="2000" dirty="0"/>
              <a:t>Sigmoid probability is equal to 1 / 1 + </a:t>
            </a:r>
            <a:r>
              <a:rPr lang="en-GB" b="1" dirty="0"/>
              <a:t>e</a:t>
            </a:r>
            <a:r>
              <a:rPr lang="en-GB" b="1" baseline="30000" dirty="0"/>
              <a:t>-z</a:t>
            </a:r>
            <a:r>
              <a:rPr lang="en-GB" sz="2000" dirty="0"/>
              <a:t>. So e Euler's  number = 2.7 </a:t>
            </a:r>
          </a:p>
          <a:p>
            <a:r>
              <a:rPr lang="en-GB" sz="2000" dirty="0"/>
              <a:t>Z is equal to linear equation </a:t>
            </a:r>
            <a:r>
              <a:rPr lang="en-GB" sz="2000" dirty="0" err="1"/>
              <a:t>equation</a:t>
            </a:r>
            <a:r>
              <a:rPr lang="en-GB" sz="2000" dirty="0"/>
              <a:t> y= </a:t>
            </a:r>
            <a:r>
              <a:rPr lang="en-GB" sz="2000" dirty="0" err="1"/>
              <a:t>Mx+b</a:t>
            </a:r>
            <a:r>
              <a:rPr lang="en-GB" sz="2000" dirty="0"/>
              <a:t>...</a:t>
            </a:r>
          </a:p>
          <a:p>
            <a:r>
              <a:rPr lang="en-GB" sz="2000" dirty="0"/>
              <a:t>it converts input into 0 1 range...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EB783-1E22-4654-B28D-401A887D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340" y="3513762"/>
            <a:ext cx="3417681" cy="21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8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51" y="1484243"/>
            <a:ext cx="11029119" cy="4391625"/>
          </a:xfrm>
        </p:spPr>
        <p:txBody>
          <a:bodyPr>
            <a:no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pandas as pd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r>
              <a:rPr lang="en-US" dirty="0"/>
              <a:t>, </a:t>
            </a:r>
            <a:r>
              <a:rPr lang="en-US" dirty="0" err="1"/>
              <a:t>confusion_matrix</a:t>
            </a:r>
            <a:endParaRPr lang="en-US" dirty="0"/>
          </a:p>
          <a:p>
            <a:br>
              <a:rPr lang="en-US" dirty="0"/>
            </a:br>
            <a:r>
              <a:rPr lang="en-US" dirty="0"/>
              <a:t># Load the dataset from a CSV file</a:t>
            </a:r>
          </a:p>
          <a:p>
            <a:r>
              <a:rPr lang="en-US" dirty="0"/>
              <a:t>data = </a:t>
            </a:r>
            <a:r>
              <a:rPr lang="en-US" dirty="0" err="1"/>
              <a:t>pd.read_csv</a:t>
            </a:r>
            <a:r>
              <a:rPr lang="en-US" dirty="0"/>
              <a:t>('/content/Social_Network_Ads.csv')  </a:t>
            </a:r>
          </a:p>
        </p:txBody>
      </p:sp>
    </p:spTree>
    <p:extLst>
      <p:ext uri="{BB962C8B-B14F-4D97-AF65-F5344CB8AC3E}">
        <p14:creationId xmlns:p14="http://schemas.microsoft.com/office/powerpoint/2010/main" val="40552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557" y="1089517"/>
            <a:ext cx="11029119" cy="439162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# Preprocessing</a:t>
            </a:r>
          </a:p>
          <a:p>
            <a:r>
              <a:rPr lang="en-US" dirty="0">
                <a:highlight>
                  <a:srgbClr val="FFFF00"/>
                </a:highlight>
              </a:rPr>
              <a:t># Encode categorical variable 'Gender'</a:t>
            </a:r>
          </a:p>
          <a:p>
            <a:r>
              <a:rPr lang="en-US" dirty="0" err="1"/>
              <a:t>labelencoder</a:t>
            </a:r>
            <a:r>
              <a:rPr lang="en-US" dirty="0"/>
              <a:t> = 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r>
              <a:rPr lang="en-US" dirty="0"/>
              <a:t>data['Gender'] = </a:t>
            </a:r>
            <a:r>
              <a:rPr lang="en-US" dirty="0" err="1"/>
              <a:t>labelencoder.fit_transform</a:t>
            </a:r>
            <a:r>
              <a:rPr lang="en-US" dirty="0"/>
              <a:t>(data['Gender'])  # Male=1, Female=0</a:t>
            </a:r>
          </a:p>
          <a:p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# Define features and target variable</a:t>
            </a:r>
          </a:p>
          <a:p>
            <a:r>
              <a:rPr lang="en-US" dirty="0"/>
              <a:t>X = data[['Gender', 'Age', '</a:t>
            </a:r>
            <a:r>
              <a:rPr lang="en-US" dirty="0" err="1"/>
              <a:t>EstimatedSalary</a:t>
            </a:r>
            <a:r>
              <a:rPr lang="en-US" dirty="0"/>
              <a:t>']].values  </a:t>
            </a:r>
            <a:r>
              <a:rPr lang="en-US" dirty="0">
                <a:highlight>
                  <a:srgbClr val="FFFF00"/>
                </a:highlight>
              </a:rPr>
              <a:t># Select relevant columns</a:t>
            </a:r>
          </a:p>
          <a:p>
            <a:r>
              <a:rPr lang="en-US" dirty="0"/>
              <a:t>y = data['Purchased'].values  </a:t>
            </a:r>
            <a:r>
              <a:rPr lang="en-US" dirty="0">
                <a:highlight>
                  <a:srgbClr val="FFFF00"/>
                </a:highlight>
              </a:rPr>
              <a:t># Target variable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0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71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186" y="885160"/>
            <a:ext cx="11133243" cy="6074440"/>
          </a:xfrm>
        </p:spPr>
        <p:txBody>
          <a:bodyPr>
            <a:no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# Split the dataset into training and testing sets</a:t>
            </a:r>
          </a:p>
          <a:p>
            <a:r>
              <a:rPr lang="en-US" sz="2800" dirty="0" err="1"/>
              <a:t>X_train</a:t>
            </a:r>
            <a:r>
              <a:rPr lang="en-US" sz="2800" dirty="0"/>
              <a:t>, </a:t>
            </a:r>
            <a:r>
              <a:rPr lang="en-US" sz="2800" dirty="0" err="1"/>
              <a:t>X_test</a:t>
            </a:r>
            <a:r>
              <a:rPr lang="en-US" sz="2800" dirty="0"/>
              <a:t>, </a:t>
            </a:r>
            <a:r>
              <a:rPr lang="en-US" sz="2800" dirty="0" err="1"/>
              <a:t>y_train</a:t>
            </a:r>
            <a:r>
              <a:rPr lang="en-US" sz="2800" dirty="0"/>
              <a:t>, </a:t>
            </a:r>
            <a:r>
              <a:rPr lang="en-US" sz="2800" dirty="0" err="1"/>
              <a:t>y_test</a:t>
            </a:r>
            <a:r>
              <a:rPr lang="en-US" sz="2800" dirty="0"/>
              <a:t> = </a:t>
            </a:r>
            <a:r>
              <a:rPr lang="en-US" sz="2800" dirty="0" err="1"/>
              <a:t>train_test_split</a:t>
            </a:r>
            <a:r>
              <a:rPr lang="en-US" sz="2800" dirty="0"/>
              <a:t>(X, y, </a:t>
            </a:r>
            <a:r>
              <a:rPr lang="en-US" sz="2800" dirty="0" err="1"/>
              <a:t>test_size</a:t>
            </a:r>
            <a:r>
              <a:rPr lang="en-US" sz="2800" dirty="0"/>
              <a:t>=0.2, </a:t>
            </a:r>
            <a:r>
              <a:rPr lang="en-US" sz="2800" dirty="0" err="1"/>
              <a:t>random_state</a:t>
            </a:r>
            <a:r>
              <a:rPr lang="en-US" sz="2800" dirty="0"/>
              <a:t>=42)</a:t>
            </a:r>
          </a:p>
          <a:p>
            <a:br>
              <a:rPr lang="en-US" sz="2800" dirty="0"/>
            </a:br>
            <a:r>
              <a:rPr lang="en-US" sz="2800" dirty="0">
                <a:highlight>
                  <a:srgbClr val="FFFF00"/>
                </a:highlight>
              </a:rPr>
              <a:t># Scale the features</a:t>
            </a:r>
          </a:p>
          <a:p>
            <a:r>
              <a:rPr lang="en-US" sz="2800" dirty="0"/>
              <a:t>scaler = </a:t>
            </a:r>
            <a:r>
              <a:rPr lang="en-US" sz="2800" dirty="0" err="1"/>
              <a:t>StandardScaler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X_train</a:t>
            </a:r>
            <a:r>
              <a:rPr lang="en-US" sz="2800" dirty="0"/>
              <a:t> = </a:t>
            </a:r>
            <a:r>
              <a:rPr lang="en-US" sz="2800" dirty="0" err="1"/>
              <a:t>scaler.fit_transform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X_test</a:t>
            </a:r>
            <a:r>
              <a:rPr lang="en-US" sz="2800" dirty="0"/>
              <a:t> = </a:t>
            </a:r>
            <a:r>
              <a:rPr lang="en-US" sz="2800" dirty="0" err="1"/>
              <a:t>scaler.transform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)</a:t>
            </a:r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56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# Logistic Regression Implementation</a:t>
            </a:r>
          </a:p>
          <a:p>
            <a:r>
              <a:rPr lang="en-US" sz="1800" dirty="0"/>
              <a:t>class </a:t>
            </a:r>
            <a:r>
              <a:rPr lang="en-US" sz="1800" dirty="0" err="1"/>
              <a:t>LogisticRegression</a:t>
            </a:r>
            <a:r>
              <a:rPr lang="en-US" sz="1800" dirty="0"/>
              <a:t>:</a:t>
            </a:r>
          </a:p>
          <a:p>
            <a:r>
              <a:rPr lang="en-US" sz="1800" dirty="0"/>
              <a:t>    def __</a:t>
            </a:r>
            <a:r>
              <a:rPr lang="en-US" sz="1800" dirty="0" err="1"/>
              <a:t>init</a:t>
            </a:r>
            <a:r>
              <a:rPr lang="en-US" sz="1800" dirty="0"/>
              <a:t>__(self, </a:t>
            </a:r>
            <a:r>
              <a:rPr lang="en-US" sz="1800" dirty="0" err="1"/>
              <a:t>learning_rate</a:t>
            </a:r>
            <a:r>
              <a:rPr lang="en-US" sz="1800" dirty="0"/>
              <a:t>=0.01, </a:t>
            </a:r>
            <a:r>
              <a:rPr lang="en-US" sz="1800" dirty="0" err="1"/>
              <a:t>num_iterations</a:t>
            </a:r>
            <a:r>
              <a:rPr lang="en-US" sz="1800" dirty="0"/>
              <a:t>=1000):</a:t>
            </a:r>
          </a:p>
          <a:p>
            <a:r>
              <a:rPr lang="en-US" sz="1800" dirty="0"/>
              <a:t>        self.lr = </a:t>
            </a:r>
            <a:r>
              <a:rPr lang="en-US" sz="1800" dirty="0" err="1"/>
              <a:t>learning_rate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self.iterations</a:t>
            </a:r>
            <a:r>
              <a:rPr lang="en-US" sz="1800" dirty="0"/>
              <a:t> = </a:t>
            </a:r>
            <a:r>
              <a:rPr lang="en-US" sz="1800" dirty="0" err="1"/>
              <a:t>num_iterations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self.weights</a:t>
            </a:r>
            <a:r>
              <a:rPr lang="en-US" sz="1800" dirty="0"/>
              <a:t> = None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self.bias</a:t>
            </a:r>
            <a:r>
              <a:rPr lang="en-US" sz="1800" dirty="0"/>
              <a:t> = None    </a:t>
            </a:r>
          </a:p>
          <a:p>
            <a:r>
              <a:rPr lang="en-US" sz="1800" dirty="0"/>
              <a:t>    def sigmoid(self, z):</a:t>
            </a:r>
          </a:p>
          <a:p>
            <a:r>
              <a:rPr lang="en-US" sz="1800" dirty="0"/>
              <a:t>        return 1 / (1 + </a:t>
            </a:r>
            <a:r>
              <a:rPr lang="en-US" sz="1800" dirty="0" err="1"/>
              <a:t>np.exp</a:t>
            </a:r>
            <a:r>
              <a:rPr lang="en-US" sz="1800" dirty="0"/>
              <a:t>(-z))</a:t>
            </a:r>
          </a:p>
          <a:p>
            <a:br>
              <a:rPr lang="en-US" sz="1800" dirty="0"/>
            </a:br>
            <a:r>
              <a:rPr lang="en-US" sz="1800" dirty="0"/>
              <a:t>    def fit(self, X, y):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num_samples</a:t>
            </a:r>
            <a:r>
              <a:rPr lang="en-US" sz="1800" dirty="0"/>
              <a:t>, </a:t>
            </a:r>
            <a:r>
              <a:rPr lang="en-US" sz="1800" dirty="0" err="1"/>
              <a:t>num_features</a:t>
            </a:r>
            <a:r>
              <a:rPr lang="en-US" sz="1800" dirty="0"/>
              <a:t> = </a:t>
            </a:r>
            <a:r>
              <a:rPr lang="en-US" sz="1800" dirty="0" err="1"/>
              <a:t>X.shape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self.weights</a:t>
            </a:r>
            <a:r>
              <a:rPr lang="en-US" sz="1800" dirty="0"/>
              <a:t> = </a:t>
            </a:r>
            <a:r>
              <a:rPr lang="en-US" sz="1800" dirty="0" err="1"/>
              <a:t>np.zeros</a:t>
            </a:r>
            <a:r>
              <a:rPr lang="en-US" sz="1800" dirty="0"/>
              <a:t>(</a:t>
            </a:r>
            <a:r>
              <a:rPr lang="en-US" sz="1800" dirty="0" err="1"/>
              <a:t>num_features</a:t>
            </a:r>
            <a:r>
              <a:rPr lang="en-US" sz="1800" dirty="0"/>
              <a:t>)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self.bias</a:t>
            </a:r>
            <a:r>
              <a:rPr lang="en-US" sz="1800" dirty="0"/>
              <a:t> = 0</a:t>
            </a:r>
          </a:p>
          <a:p>
            <a:br>
              <a:rPr lang="en-US" sz="1800" dirty="0"/>
            </a:br>
            <a:r>
              <a:rPr lang="en-US" sz="1800" dirty="0"/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248551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264F-F86F-5D9F-4436-4D86B5BB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D269B3-8EAE-2BD7-1D79-BD919043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56B7E1-008F-4E37-17A2-50620D6BF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r>
              <a:rPr lang="en-US" sz="1800" dirty="0"/>
              <a:t>for </a:t>
            </a:r>
            <a:r>
              <a:rPr lang="en-US" sz="1800" dirty="0" err="1"/>
              <a:t>i</a:t>
            </a:r>
            <a:r>
              <a:rPr lang="en-US" sz="1800" dirty="0"/>
              <a:t> in range(</a:t>
            </a:r>
            <a:r>
              <a:rPr lang="en-US" sz="1800" dirty="0" err="1"/>
              <a:t>self.iterations</a:t>
            </a:r>
            <a:r>
              <a:rPr lang="en-US" sz="1800" dirty="0"/>
              <a:t>):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linear_model</a:t>
            </a:r>
            <a:r>
              <a:rPr lang="en-US" sz="1800" dirty="0"/>
              <a:t> = np.dot(X, </a:t>
            </a:r>
            <a:r>
              <a:rPr lang="en-US" sz="1800" dirty="0" err="1"/>
              <a:t>self.weights</a:t>
            </a:r>
            <a:r>
              <a:rPr lang="en-US" sz="1800" dirty="0"/>
              <a:t>) + </a:t>
            </a:r>
            <a:r>
              <a:rPr lang="en-US" sz="1800" dirty="0" err="1"/>
              <a:t>self.bias</a:t>
            </a:r>
            <a:endParaRPr lang="en-US" sz="1800" dirty="0"/>
          </a:p>
          <a:p>
            <a:r>
              <a:rPr lang="en-US" sz="1800" dirty="0"/>
              <a:t>            </a:t>
            </a:r>
            <a:r>
              <a:rPr lang="en-US" sz="1800" dirty="0" err="1"/>
              <a:t>y_predicted</a:t>
            </a:r>
            <a:r>
              <a:rPr lang="en-US" sz="1800" dirty="0"/>
              <a:t> = </a:t>
            </a:r>
            <a:r>
              <a:rPr lang="en-US" sz="1800" dirty="0" err="1"/>
              <a:t>self.sigmoid</a:t>
            </a:r>
            <a:r>
              <a:rPr lang="en-US" sz="1800" dirty="0"/>
              <a:t>(</a:t>
            </a:r>
            <a:r>
              <a:rPr lang="en-US" sz="1800" dirty="0" err="1"/>
              <a:t>linear_model</a:t>
            </a:r>
            <a:r>
              <a:rPr lang="en-US" sz="1800" dirty="0"/>
              <a:t>)</a:t>
            </a:r>
          </a:p>
          <a:p>
            <a:br>
              <a:rPr lang="en-US" sz="1800" dirty="0">
                <a:highlight>
                  <a:srgbClr val="FFFF00"/>
                </a:highlight>
              </a:rPr>
            </a:br>
            <a:r>
              <a:rPr lang="en-US" sz="1800" dirty="0">
                <a:highlight>
                  <a:srgbClr val="FFFF00"/>
                </a:highlight>
              </a:rPr>
              <a:t>            # Update weights and bias by calculating Gradient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dw</a:t>
            </a:r>
            <a:r>
              <a:rPr lang="en-US" sz="1800" dirty="0"/>
              <a:t> = (1 / </a:t>
            </a:r>
            <a:r>
              <a:rPr lang="en-US" sz="1800" dirty="0" err="1"/>
              <a:t>num_samples</a:t>
            </a:r>
            <a:r>
              <a:rPr lang="en-US" sz="1800" dirty="0"/>
              <a:t>) * np.dot(X.T, (</a:t>
            </a:r>
            <a:r>
              <a:rPr lang="en-US" sz="1800" dirty="0" err="1"/>
              <a:t>y_predicted</a:t>
            </a:r>
            <a:r>
              <a:rPr lang="en-US" sz="1800" dirty="0"/>
              <a:t> - y))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db</a:t>
            </a:r>
            <a:r>
              <a:rPr lang="en-US" sz="1800" dirty="0"/>
              <a:t> = (1 / </a:t>
            </a:r>
            <a:r>
              <a:rPr lang="en-US" sz="1800" dirty="0" err="1"/>
              <a:t>num_samples</a:t>
            </a:r>
            <a:r>
              <a:rPr lang="en-US" sz="1800" dirty="0"/>
              <a:t>) * </a:t>
            </a:r>
            <a:r>
              <a:rPr lang="en-US" sz="1800" dirty="0" err="1"/>
              <a:t>np.sum</a:t>
            </a:r>
            <a:r>
              <a:rPr lang="en-US" sz="1800" dirty="0"/>
              <a:t>(</a:t>
            </a:r>
            <a:r>
              <a:rPr lang="en-US" sz="1800" dirty="0" err="1"/>
              <a:t>y_predicted</a:t>
            </a:r>
            <a:r>
              <a:rPr lang="en-US" sz="1800" dirty="0"/>
              <a:t> - y)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self.weights</a:t>
            </a:r>
            <a:r>
              <a:rPr lang="en-US" sz="1800" dirty="0"/>
              <a:t> -= self.lr * </a:t>
            </a:r>
            <a:r>
              <a:rPr lang="en-US" sz="1800" dirty="0" err="1"/>
              <a:t>dw</a:t>
            </a:r>
            <a:endParaRPr lang="en-US" sz="1800" dirty="0"/>
          </a:p>
          <a:p>
            <a:r>
              <a:rPr lang="en-US" sz="1800" dirty="0"/>
              <a:t>            </a:t>
            </a:r>
            <a:r>
              <a:rPr lang="en-US" sz="1800" dirty="0" err="1"/>
              <a:t>self.bias</a:t>
            </a:r>
            <a:r>
              <a:rPr lang="en-US" sz="1800" dirty="0"/>
              <a:t> -= self.lr * </a:t>
            </a:r>
            <a:r>
              <a:rPr lang="en-US" sz="1800" dirty="0" err="1"/>
              <a:t>db</a:t>
            </a:r>
            <a:endParaRPr lang="en-US" sz="1800" dirty="0"/>
          </a:p>
          <a:p>
            <a:br>
              <a:rPr lang="en-US" sz="1800" dirty="0"/>
            </a:br>
            <a:r>
              <a:rPr lang="en-US" sz="1800" dirty="0"/>
              <a:t>    def predict(self, X):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linear_model</a:t>
            </a:r>
            <a:r>
              <a:rPr lang="en-US" sz="1800" dirty="0"/>
              <a:t> = np.dot(X, </a:t>
            </a:r>
            <a:r>
              <a:rPr lang="en-US" sz="1800" dirty="0" err="1"/>
              <a:t>self.weights</a:t>
            </a:r>
            <a:r>
              <a:rPr lang="en-US" sz="1800" dirty="0"/>
              <a:t>) + </a:t>
            </a:r>
            <a:r>
              <a:rPr lang="en-US" sz="1800" dirty="0" err="1"/>
              <a:t>self.bias</a:t>
            </a:r>
            <a:endParaRPr lang="en-US" sz="1800" dirty="0"/>
          </a:p>
          <a:p>
            <a:r>
              <a:rPr lang="en-US" sz="1800" dirty="0"/>
              <a:t>        return [1 if </a:t>
            </a:r>
            <a:r>
              <a:rPr lang="en-US" sz="1800" dirty="0" err="1"/>
              <a:t>i</a:t>
            </a:r>
            <a:r>
              <a:rPr lang="en-US" sz="1800" dirty="0"/>
              <a:t> &gt; 0.5 else 0 for </a:t>
            </a:r>
            <a:r>
              <a:rPr lang="en-US" sz="1800" dirty="0" err="1"/>
              <a:t>i</a:t>
            </a:r>
            <a:r>
              <a:rPr lang="en-US" sz="1800" dirty="0"/>
              <a:t> in </a:t>
            </a:r>
            <a:r>
              <a:rPr lang="en-US" sz="1800" dirty="0" err="1"/>
              <a:t>self.sigmoid</a:t>
            </a:r>
            <a:r>
              <a:rPr lang="en-US" sz="1800" dirty="0"/>
              <a:t>(</a:t>
            </a:r>
            <a:r>
              <a:rPr lang="en-US" sz="1800" dirty="0" err="1"/>
              <a:t>linear_model</a:t>
            </a:r>
            <a:r>
              <a:rPr lang="en-US" sz="1800" dirty="0"/>
              <a:t>)]</a:t>
            </a:r>
          </a:p>
          <a:p>
            <a:br>
              <a:rPr lang="en-US" sz="1800" dirty="0"/>
            </a:br>
            <a:endParaRPr lang="en-US" sz="1800" dirty="0"/>
          </a:p>
        </p:txBody>
      </p:sp>
      <p:pic>
        <p:nvPicPr>
          <p:cNvPr id="3" name="Picture 2" descr="A black and white symbol&#10;&#10;AI-generated content may be incorrect.">
            <a:extLst>
              <a:ext uri="{FF2B5EF4-FFF2-40B4-BE49-F238E27FC236}">
                <a16:creationId xmlns:a16="http://schemas.microsoft.com/office/drawing/2014/main" id="{27A4AF17-F0AB-58E7-4E99-64BA789E3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39" y="2587083"/>
            <a:ext cx="3560503" cy="1312811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51B0D37-9DE3-DC66-B6F6-A1C32655D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39" y="1361455"/>
            <a:ext cx="3731693" cy="94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5D92-3B82-1FDB-E899-C1FFE2E4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2A569-A9C2-E620-2711-95137E9E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0F5BE7-FEAC-508F-CF44-60DCFA02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br>
              <a:rPr lang="en-US" sz="1800" dirty="0"/>
            </a:br>
            <a:r>
              <a:rPr lang="en-US" sz="1800" dirty="0">
                <a:highlight>
                  <a:srgbClr val="FFFF00"/>
                </a:highlight>
              </a:rPr>
              <a:t># Train the Model</a:t>
            </a:r>
          </a:p>
          <a:p>
            <a:r>
              <a:rPr lang="en-US" sz="1800" dirty="0"/>
              <a:t>model = </a:t>
            </a:r>
            <a:r>
              <a:rPr lang="en-US" sz="1800" dirty="0" err="1"/>
              <a:t>LogisticRegression</a:t>
            </a:r>
            <a:r>
              <a:rPr lang="en-US" sz="1800" dirty="0"/>
              <a:t>(</a:t>
            </a:r>
            <a:r>
              <a:rPr lang="en-US" sz="1800" dirty="0" err="1"/>
              <a:t>learning_rate</a:t>
            </a:r>
            <a:r>
              <a:rPr lang="en-US" sz="1800" dirty="0"/>
              <a:t>=0.1, </a:t>
            </a:r>
            <a:r>
              <a:rPr lang="en-US" sz="1800" dirty="0" err="1"/>
              <a:t>num_iterations</a:t>
            </a:r>
            <a:r>
              <a:rPr lang="en-US" sz="1800" dirty="0"/>
              <a:t>=1000)</a:t>
            </a:r>
          </a:p>
          <a:p>
            <a:r>
              <a:rPr lang="en-US" sz="1800" dirty="0" err="1"/>
              <a:t>model.fit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)</a:t>
            </a:r>
          </a:p>
          <a:p>
            <a:br>
              <a:rPr lang="en-US" sz="1800" dirty="0"/>
            </a:br>
            <a:r>
              <a:rPr lang="en-US" sz="1800" dirty="0">
                <a:highlight>
                  <a:srgbClr val="FFFF00"/>
                </a:highlight>
              </a:rPr>
              <a:t># Evaluate the Model</a:t>
            </a:r>
          </a:p>
          <a:p>
            <a:r>
              <a:rPr lang="en-US" sz="1800" dirty="0"/>
              <a:t>predictions = </a:t>
            </a:r>
            <a:r>
              <a:rPr lang="en-US" sz="1800" dirty="0" err="1"/>
              <a:t>model.predict</a:t>
            </a:r>
            <a:r>
              <a:rPr lang="en-US" sz="1800" dirty="0"/>
              <a:t>(</a:t>
            </a:r>
            <a:r>
              <a:rPr lang="en-US" sz="1800" dirty="0" err="1"/>
              <a:t>X_test</a:t>
            </a:r>
            <a:r>
              <a:rPr lang="en-US" sz="1800" dirty="0"/>
              <a:t>)</a:t>
            </a:r>
          </a:p>
          <a:p>
            <a:r>
              <a:rPr lang="en-US" sz="1800" dirty="0"/>
              <a:t>print("Accuracy:", </a:t>
            </a:r>
            <a:r>
              <a:rPr lang="en-US" sz="1800" dirty="0" err="1"/>
              <a:t>accuracy_score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  <a:p>
            <a:r>
              <a:rPr lang="en-US" sz="1800" dirty="0"/>
              <a:t>print("Confusion Matrix:\n", </a:t>
            </a:r>
            <a:r>
              <a:rPr lang="en-US" sz="1800" dirty="0" err="1"/>
              <a:t>confusion_matrix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  <a:p>
            <a:r>
              <a:rPr lang="en-US" sz="1800" dirty="0"/>
              <a:t>print("Classification Report:\n", </a:t>
            </a:r>
            <a:r>
              <a:rPr lang="en-US" sz="1800" dirty="0" err="1"/>
              <a:t>classification_report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CD5BE-3EF4-65CC-E3AC-27838B7D4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86" y="4593641"/>
            <a:ext cx="4655457" cy="226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7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0" y="1103812"/>
            <a:ext cx="9036423" cy="47688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LogisticRegression</a:t>
            </a:r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confusion_matrix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Load dataset</a:t>
            </a:r>
          </a:p>
          <a:p>
            <a:r>
              <a:rPr lang="en-US" dirty="0"/>
              <a:t>data = </a:t>
            </a:r>
            <a:r>
              <a:rPr lang="en-US" dirty="0" err="1"/>
              <a:t>pd.read_csv</a:t>
            </a:r>
            <a:r>
              <a:rPr lang="en-US" dirty="0"/>
              <a:t>("/content/Social_Network_Ads.csv")</a:t>
            </a:r>
          </a:p>
          <a:p>
            <a:r>
              <a:rPr lang="en-US" dirty="0">
                <a:highlight>
                  <a:srgbClr val="FFFF00"/>
                </a:highlight>
              </a:rPr>
              <a:t># Encode Gender (Male/Female → 1/0)</a:t>
            </a:r>
          </a:p>
          <a:p>
            <a:r>
              <a:rPr lang="en-US" dirty="0"/>
              <a:t>le = 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r>
              <a:rPr lang="en-US" dirty="0"/>
              <a:t>data['Gender'] = </a:t>
            </a:r>
            <a:r>
              <a:rPr lang="en-US" dirty="0" err="1"/>
              <a:t>le.fit_transform</a:t>
            </a:r>
            <a:r>
              <a:rPr lang="en-US" dirty="0"/>
              <a:t>(data['Gender'])</a:t>
            </a:r>
          </a:p>
        </p:txBody>
      </p:sp>
    </p:spTree>
    <p:extLst>
      <p:ext uri="{BB962C8B-B14F-4D97-AF65-F5344CB8AC3E}">
        <p14:creationId xmlns:p14="http://schemas.microsoft.com/office/powerpoint/2010/main" val="841153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063772"/>
            <a:ext cx="9958848" cy="4768858"/>
          </a:xfrm>
        </p:spPr>
        <p:txBody>
          <a:bodyPr>
            <a:normAutofit fontScale="925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Features &amp; target</a:t>
            </a:r>
          </a:p>
          <a:p>
            <a:r>
              <a:rPr lang="en-US" dirty="0"/>
              <a:t>X = data[['Gender', 'Age', '</a:t>
            </a:r>
            <a:r>
              <a:rPr lang="en-US" dirty="0" err="1"/>
              <a:t>EstimatedSalary</a:t>
            </a:r>
            <a:r>
              <a:rPr lang="en-US" dirty="0"/>
              <a:t>']].values</a:t>
            </a:r>
          </a:p>
          <a:p>
            <a:r>
              <a:rPr lang="en-US" dirty="0"/>
              <a:t>y = data['Purchased'].values</a:t>
            </a:r>
          </a:p>
          <a:p>
            <a:r>
              <a:rPr lang="en-US" dirty="0">
                <a:highlight>
                  <a:srgbClr val="FFFF00"/>
                </a:highlight>
              </a:rPr>
              <a:t># Train-test split</a:t>
            </a:r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Scale features</a:t>
            </a:r>
          </a:p>
          <a:p>
            <a:r>
              <a:rPr lang="en-US" dirty="0"/>
              <a:t>scaler = </a:t>
            </a:r>
            <a:r>
              <a:rPr lang="en-US" dirty="0" err="1"/>
              <a:t>StandardScaler</a:t>
            </a:r>
            <a:r>
              <a:rPr lang="en-US" dirty="0"/>
              <a:t>()</a:t>
            </a:r>
          </a:p>
          <a:p>
            <a:r>
              <a:rPr lang="en-US" dirty="0" err="1"/>
              <a:t>X_train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</a:t>
            </a:r>
          </a:p>
          <a:p>
            <a:r>
              <a:rPr lang="en-US" dirty="0" err="1"/>
              <a:t>X_test</a:t>
            </a:r>
            <a:r>
              <a:rPr lang="en-US" dirty="0"/>
              <a:t> = </a:t>
            </a:r>
            <a:r>
              <a:rPr lang="en-US" dirty="0" err="1"/>
              <a:t>scaler.transform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845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418" y="1063772"/>
            <a:ext cx="10288753" cy="4768858"/>
          </a:xfrm>
        </p:spPr>
        <p:txBody>
          <a:bodyPr>
            <a:normAutofit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Logistic Regression</a:t>
            </a:r>
          </a:p>
          <a:p>
            <a:r>
              <a:rPr lang="en-US" dirty="0"/>
              <a:t>model = LogisticRegression()</a:t>
            </a:r>
          </a:p>
          <a:p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r>
              <a:rPr lang="en-US" dirty="0">
                <a:highlight>
                  <a:srgbClr val="FFFF00"/>
                </a:highlight>
              </a:rPr>
              <a:t># Predictions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Evaluation</a:t>
            </a:r>
          </a:p>
          <a:p>
            <a:r>
              <a:rPr lang="en-US" dirty="0"/>
              <a:t>print("Accuracy:", </a:t>
            </a:r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r>
              <a:rPr lang="en-US" dirty="0"/>
              <a:t>print("Confusion Matrix:\n", </a:t>
            </a:r>
            <a:r>
              <a:rPr lang="en-US" dirty="0" err="1"/>
              <a:t>confusion_matrix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r>
              <a:rPr lang="en-US" dirty="0"/>
              <a:t>print("Classification Report:\n", </a:t>
            </a:r>
            <a:r>
              <a:rPr lang="en-US" dirty="0" err="1"/>
              <a:t>classification_report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5F610-F60D-2711-DAF6-439CE620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127" y="1611322"/>
            <a:ext cx="4254719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2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19571-B410-E7AB-28D6-A1C9A1AB64D5}"/>
              </a:ext>
            </a:extLst>
          </p:cNvPr>
          <p:cNvSpPr txBox="1"/>
          <p:nvPr/>
        </p:nvSpPr>
        <p:spPr>
          <a:xfrm>
            <a:off x="1290018" y="2779141"/>
            <a:ext cx="957546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/>
              <a:t>Polynomial regression fits a curved line instead of a straight line by adding powers of x (x², x³, etc.) as extra features. It still uses the same linear regression method underneath, just applied to these transformed features, so it can capture non-linear patterns in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7F0C31-62E9-CB15-E464-78FC1BC0D249}"/>
              </a:ext>
            </a:extLst>
          </p:cNvPr>
          <p:cNvSpPr txBox="1">
            <a:spLocks/>
          </p:cNvSpPr>
          <p:nvPr/>
        </p:nvSpPr>
        <p:spPr>
          <a:xfrm>
            <a:off x="1290018" y="1407686"/>
            <a:ext cx="9366325" cy="5108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FF0000"/>
                </a:solidFill>
              </a:rPr>
              <a:t>Polynomial regression</a:t>
            </a:r>
          </a:p>
        </p:txBody>
      </p:sp>
    </p:spTree>
    <p:extLst>
      <p:ext uri="{BB962C8B-B14F-4D97-AF65-F5344CB8AC3E}">
        <p14:creationId xmlns:p14="http://schemas.microsoft.com/office/powerpoint/2010/main" val="221612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86" y="1484243"/>
            <a:ext cx="9601196" cy="4391625"/>
          </a:xfrm>
        </p:spPr>
        <p:txBody>
          <a:bodyPr>
            <a:normAutofit fontScale="77500" lnSpcReduction="20000"/>
          </a:bodyPr>
          <a:lstStyle/>
          <a:p>
            <a:r>
              <a:rPr lang="fr-FR" sz="2800" i="1" dirty="0">
                <a:solidFill>
                  <a:schemeClr val="tx1"/>
                </a:solidFill>
              </a:rPr>
              <a:t>import pandas as </a:t>
            </a:r>
            <a:r>
              <a:rPr lang="fr-FR" sz="2800" i="1" dirty="0" err="1">
                <a:solidFill>
                  <a:schemeClr val="tx1"/>
                </a:solidFill>
              </a:rPr>
              <a:t>pd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</a:rPr>
              <a:t>import </a:t>
            </a:r>
            <a:r>
              <a:rPr lang="fr-FR" sz="2800" i="1" dirty="0" err="1">
                <a:solidFill>
                  <a:schemeClr val="tx1"/>
                </a:solidFill>
              </a:rPr>
              <a:t>numpy</a:t>
            </a:r>
            <a:r>
              <a:rPr lang="fr-FR" sz="2800" i="1" dirty="0">
                <a:solidFill>
                  <a:schemeClr val="tx1"/>
                </a:solidFill>
              </a:rPr>
              <a:t> as </a:t>
            </a:r>
            <a:r>
              <a:rPr lang="fr-FR" sz="2800" i="1" dirty="0" err="1">
                <a:solidFill>
                  <a:schemeClr val="tx1"/>
                </a:solidFill>
              </a:rPr>
              <a:t>np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</a:rPr>
              <a:t>import </a:t>
            </a:r>
            <a:r>
              <a:rPr lang="fr-FR" sz="2800" i="1" dirty="0" err="1">
                <a:solidFill>
                  <a:schemeClr val="tx1"/>
                </a:solidFill>
              </a:rPr>
              <a:t>matplotlib.pyplot</a:t>
            </a:r>
            <a:r>
              <a:rPr lang="fr-FR" sz="2800" i="1" dirty="0">
                <a:solidFill>
                  <a:schemeClr val="tx1"/>
                </a:solidFill>
              </a:rPr>
              <a:t> as </a:t>
            </a:r>
            <a:r>
              <a:rPr lang="fr-FR" sz="2800" i="1" dirty="0" err="1">
                <a:solidFill>
                  <a:schemeClr val="tx1"/>
                </a:solidFill>
              </a:rPr>
              <a:t>plt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 err="1">
                <a:solidFill>
                  <a:schemeClr val="tx1"/>
                </a:solidFill>
              </a:rPr>
              <a:t>from</a:t>
            </a:r>
            <a:r>
              <a:rPr lang="fr-FR" sz="2800" i="1" dirty="0">
                <a:solidFill>
                  <a:schemeClr val="tx1"/>
                </a:solidFill>
              </a:rPr>
              <a:t> </a:t>
            </a:r>
            <a:r>
              <a:rPr lang="fr-FR" sz="2800" i="1" dirty="0" err="1">
                <a:solidFill>
                  <a:schemeClr val="tx1"/>
                </a:solidFill>
              </a:rPr>
              <a:t>sklearn.linear_model</a:t>
            </a:r>
            <a:r>
              <a:rPr lang="fr-FR" sz="2800" i="1" dirty="0">
                <a:solidFill>
                  <a:schemeClr val="tx1"/>
                </a:solidFill>
              </a:rPr>
              <a:t> import </a:t>
            </a:r>
            <a:r>
              <a:rPr lang="fr-FR" sz="2800" i="1" dirty="0" err="1">
                <a:solidFill>
                  <a:schemeClr val="tx1"/>
                </a:solidFill>
              </a:rPr>
              <a:t>LinearRegression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 err="1">
                <a:solidFill>
                  <a:schemeClr val="tx1"/>
                </a:solidFill>
              </a:rPr>
              <a:t>from</a:t>
            </a:r>
            <a:r>
              <a:rPr lang="fr-FR" sz="2800" i="1" dirty="0">
                <a:solidFill>
                  <a:schemeClr val="tx1"/>
                </a:solidFill>
              </a:rPr>
              <a:t> </a:t>
            </a:r>
            <a:r>
              <a:rPr lang="fr-FR" sz="2800" i="1" dirty="0" err="1">
                <a:solidFill>
                  <a:schemeClr val="tx1"/>
                </a:solidFill>
              </a:rPr>
              <a:t>sklearn.preprocessing</a:t>
            </a:r>
            <a:r>
              <a:rPr lang="fr-FR" sz="2800" i="1" dirty="0">
                <a:solidFill>
                  <a:schemeClr val="tx1"/>
                </a:solidFill>
              </a:rPr>
              <a:t> import </a:t>
            </a:r>
            <a:r>
              <a:rPr lang="fr-FR" sz="2800" i="1" dirty="0" err="1">
                <a:solidFill>
                  <a:schemeClr val="tx1"/>
                </a:solidFill>
              </a:rPr>
              <a:t>PolynomialFeatures</a:t>
            </a:r>
            <a:endParaRPr lang="fr-FR" sz="2800" i="1" dirty="0">
              <a:solidFill>
                <a:schemeClr val="tx1"/>
              </a:solidFill>
            </a:endParaRPr>
          </a:p>
          <a:p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#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Load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dataset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data = </a:t>
            </a:r>
            <a:r>
              <a:rPr lang="fr-FR" sz="2800" i="1" dirty="0" err="1">
                <a:solidFill>
                  <a:schemeClr val="tx1"/>
                </a:solidFill>
              </a:rPr>
              <a:t>pd.read_csv</a:t>
            </a:r>
            <a:r>
              <a:rPr lang="fr-FR" sz="2800" i="1" dirty="0">
                <a:solidFill>
                  <a:schemeClr val="tx1"/>
                </a:solidFill>
              </a:rPr>
              <a:t>("Position_Salaries.csv")</a:t>
            </a:r>
          </a:p>
          <a:p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# Independent variable (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Level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) and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dependent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variable (Salary)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X = data[["</a:t>
            </a:r>
            <a:r>
              <a:rPr lang="fr-FR" sz="2800" i="1" dirty="0" err="1">
                <a:solidFill>
                  <a:schemeClr val="tx1"/>
                </a:solidFill>
              </a:rPr>
              <a:t>Level</a:t>
            </a:r>
            <a:r>
              <a:rPr lang="fr-FR" sz="2800" i="1" dirty="0">
                <a:solidFill>
                  <a:schemeClr val="tx1"/>
                </a:solidFill>
              </a:rPr>
              <a:t>"]].values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y = data["Salary"].values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BE0B5-EBBC-43BB-8D45-886E5CEC7DCD}"/>
              </a:ext>
            </a:extLst>
          </p:cNvPr>
          <p:cNvSpPr/>
          <p:nvPr/>
        </p:nvSpPr>
        <p:spPr>
          <a:xfrm>
            <a:off x="6538975" y="0"/>
            <a:ext cx="39488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Polynomial Regression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96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2929FF"/>
                </a:solidFill>
              </a:rPr>
              <a:t>Polynomial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85" y="1484243"/>
            <a:ext cx="11029119" cy="439162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Polynomial transformation (degree=4 for better curve fitting)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</a:rPr>
              <a:t>poly = </a:t>
            </a:r>
            <a:r>
              <a:rPr lang="en-US" sz="2800" dirty="0" err="1">
                <a:solidFill>
                  <a:schemeClr val="tx1"/>
                </a:solidFill>
              </a:rPr>
              <a:t>PolynomialFeatures</a:t>
            </a:r>
            <a:r>
              <a:rPr lang="en-US" sz="2800" dirty="0">
                <a:solidFill>
                  <a:schemeClr val="tx1"/>
                </a:solidFill>
              </a:rPr>
              <a:t>(degree=4)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poly.fit_transform</a:t>
            </a:r>
            <a:r>
              <a:rPr lang="en-US" sz="2800" dirty="0">
                <a:solidFill>
                  <a:schemeClr val="tx1"/>
                </a:solidFill>
              </a:rPr>
              <a:t>(X)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sz="2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Train polynomial regression model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poly_model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LinearRegression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poly_model.fit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, y)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sz="2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Predictions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y_pred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poly_model.predict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435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rgbClr val="2929FF"/>
                </a:solidFill>
              </a:rPr>
              <a:t>Draw the line….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41" y="1404731"/>
            <a:ext cx="11161641" cy="439162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Plot results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plt.scatter</a:t>
            </a:r>
            <a:r>
              <a:rPr lang="en-US" sz="2800" dirty="0">
                <a:solidFill>
                  <a:schemeClr val="tx1"/>
                </a:solidFill>
              </a:rPr>
              <a:t>(X, y, color="blue", label="Actual Data")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plt.plot</a:t>
            </a:r>
            <a:r>
              <a:rPr lang="en-US" sz="2800" dirty="0">
                <a:solidFill>
                  <a:schemeClr val="tx1"/>
                </a:solidFill>
              </a:rPr>
              <a:t>(X, </a:t>
            </a:r>
            <a:r>
              <a:rPr lang="en-US" sz="2800" dirty="0" err="1">
                <a:solidFill>
                  <a:schemeClr val="tx1"/>
                </a:solidFill>
              </a:rPr>
              <a:t>y_pred</a:t>
            </a:r>
            <a:r>
              <a:rPr lang="en-US" sz="2800" dirty="0">
                <a:solidFill>
                  <a:schemeClr val="tx1"/>
                </a:solidFill>
              </a:rPr>
              <a:t>, color="red", label="Polynomial Fit (deg=4)")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plt.xlabel</a:t>
            </a:r>
            <a:r>
              <a:rPr lang="en-US" sz="2800" dirty="0">
                <a:solidFill>
                  <a:schemeClr val="tx1"/>
                </a:solidFill>
              </a:rPr>
              <a:t>("Level")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plt.ylabel</a:t>
            </a:r>
            <a:r>
              <a:rPr lang="en-US" sz="2800" dirty="0">
                <a:solidFill>
                  <a:schemeClr val="tx1"/>
                </a:solidFill>
              </a:rPr>
              <a:t>("Salary")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plt.title</a:t>
            </a:r>
            <a:r>
              <a:rPr lang="en-US" sz="2800" dirty="0">
                <a:solidFill>
                  <a:schemeClr val="tx1"/>
                </a:solidFill>
              </a:rPr>
              <a:t>("Polynomial Regression")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plt.legend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plt.show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dirty="0">
                <a:solidFill>
                  <a:schemeClr val="tx1"/>
                </a:solidFill>
              </a:rPr>
              <a:t>Find out its R2 score and RMSE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539EF-07D7-1ADD-93C9-A718B0695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992" y="4641574"/>
            <a:ext cx="2762008" cy="221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3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7100D4-A58A-1D75-5D9A-718D6C026E1D}"/>
              </a:ext>
            </a:extLst>
          </p:cNvPr>
          <p:cNvSpPr txBox="1"/>
          <p:nvPr/>
        </p:nvSpPr>
        <p:spPr>
          <a:xfrm>
            <a:off x="1461052" y="2091830"/>
            <a:ext cx="95614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Predict a person’s </a:t>
            </a:r>
            <a:r>
              <a:rPr lang="en-US" sz="2000" b="1" dirty="0"/>
              <a:t>medical insurance cost</a:t>
            </a:r>
            <a:r>
              <a:rPr lang="en-US" sz="2000" dirty="0"/>
              <a:t> based on their personal details.</a:t>
            </a:r>
          </a:p>
          <a:p>
            <a:pPr>
              <a:buNone/>
            </a:pPr>
            <a:r>
              <a:rPr lang="en-US" sz="2000" b="1" dirty="0"/>
              <a:t>Dataset:</a:t>
            </a:r>
            <a:r>
              <a:rPr lang="en-US" sz="2000" dirty="0"/>
              <a:t> Medical Cost Personal Dataset </a:t>
            </a:r>
          </a:p>
          <a:p>
            <a:pPr>
              <a:buNone/>
            </a:pPr>
            <a:r>
              <a:rPr lang="en-US" sz="2000" b="1" dirty="0"/>
              <a:t>Instructions 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Load and explore the dataset.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Features include: </a:t>
            </a:r>
            <a:r>
              <a:rPr lang="en-US" sz="2000" dirty="0">
                <a:latin typeface="Courier New" panose="02070309020205020404" pitchFamily="49" charset="0"/>
              </a:rPr>
              <a:t>age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bmi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children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smoker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region</a:t>
            </a:r>
            <a:r>
              <a:rPr lang="en-US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Target = </a:t>
            </a:r>
            <a:r>
              <a:rPr lang="en-US" sz="2000" dirty="0">
                <a:latin typeface="Courier New" panose="02070309020205020404" pitchFamily="49" charset="0"/>
              </a:rPr>
              <a:t>charges</a:t>
            </a:r>
            <a:r>
              <a:rPr lang="en-US" sz="2000" dirty="0"/>
              <a:t> (insurance cost).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Preprocess: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Apply </a:t>
            </a:r>
            <a:r>
              <a:rPr lang="en-US" sz="2000" b="1" dirty="0"/>
              <a:t> Encoding</a:t>
            </a:r>
            <a:r>
              <a:rPr lang="en-US" sz="2000" dirty="0"/>
              <a:t> to categorical features (</a:t>
            </a:r>
            <a:r>
              <a:rPr lang="en-US" sz="2000" dirty="0">
                <a:latin typeface="Courier New" panose="02070309020205020404" pitchFamily="49" charset="0"/>
              </a:rPr>
              <a:t>region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smoker</a:t>
            </a:r>
            <a:r>
              <a:rPr lang="en-US" sz="2000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Scale numerical features.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Train a </a:t>
            </a:r>
            <a:r>
              <a:rPr lang="en-US" sz="2000" b="1" dirty="0"/>
              <a:t>Linear Regression model</a:t>
            </a:r>
            <a:r>
              <a:rPr lang="en-US" sz="2000" dirty="0"/>
              <a:t> to predict </a:t>
            </a:r>
            <a:r>
              <a:rPr lang="en-US" sz="2000" dirty="0">
                <a:latin typeface="Courier New" panose="02070309020205020404" pitchFamily="49" charset="0"/>
              </a:rPr>
              <a:t>charges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Evaluate using </a:t>
            </a:r>
            <a:r>
              <a:rPr lang="en-US" sz="2000" b="1" dirty="0"/>
              <a:t>RMSE &amp; R² score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Plot </a:t>
            </a:r>
            <a:r>
              <a:rPr lang="en-US" sz="2000" b="1" dirty="0"/>
              <a:t>Predicted vs Actual Costs</a:t>
            </a:r>
            <a:r>
              <a:rPr lang="en-US" sz="2000" dirty="0"/>
              <a:t>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F5902EB-5396-5A0A-318A-0CAB2D4156F8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1 </a:t>
            </a:r>
          </a:p>
        </p:txBody>
      </p:sp>
    </p:spTree>
    <p:extLst>
      <p:ext uri="{BB962C8B-B14F-4D97-AF65-F5344CB8AC3E}">
        <p14:creationId xmlns:p14="http://schemas.microsoft.com/office/powerpoint/2010/main" val="3959241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36FF3-C184-0C6D-8F78-FA58E6DA7CCB}"/>
              </a:ext>
            </a:extLst>
          </p:cNvPr>
          <p:cNvSpPr txBox="1"/>
          <p:nvPr/>
        </p:nvSpPr>
        <p:spPr>
          <a:xfrm>
            <a:off x="1453183" y="2199865"/>
            <a:ext cx="97780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Predict whether a customer will </a:t>
            </a:r>
            <a:r>
              <a:rPr lang="en-US" sz="2400" b="1" dirty="0"/>
              <a:t>churn</a:t>
            </a:r>
            <a:r>
              <a:rPr lang="en-US" sz="2400" dirty="0"/>
              <a:t> (leave the company) based on their behavior and usage patterns.</a:t>
            </a:r>
          </a:p>
          <a:p>
            <a:pPr>
              <a:buNone/>
            </a:pPr>
            <a:r>
              <a:rPr lang="en-US" sz="2400" b="1" dirty="0"/>
              <a:t>Dataset:</a:t>
            </a:r>
            <a:r>
              <a:rPr lang="en-US" sz="2400" dirty="0"/>
              <a:t> Telco Customer Churn </a:t>
            </a:r>
          </a:p>
          <a:p>
            <a:pPr>
              <a:buNone/>
            </a:pPr>
            <a:r>
              <a:rPr lang="en-US" sz="2400" b="1" dirty="0"/>
              <a:t>Instructions: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Load dataset and preprocess categorical variables ( Encoding).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Train a </a:t>
            </a:r>
            <a:r>
              <a:rPr lang="en-US" sz="2400" b="1" dirty="0"/>
              <a:t>Logistic Regression model</a:t>
            </a:r>
            <a:r>
              <a:rPr lang="en-US" sz="2400" dirty="0"/>
              <a:t> with features like </a:t>
            </a:r>
            <a:r>
              <a:rPr lang="en-US" sz="2400" dirty="0">
                <a:latin typeface="Courier New" panose="02070309020205020404" pitchFamily="49" charset="0"/>
              </a:rPr>
              <a:t>tenure</a:t>
            </a:r>
            <a:r>
              <a:rPr lang="en-US" sz="2400" dirty="0"/>
              <a:t>, </a:t>
            </a:r>
            <a:r>
              <a:rPr lang="en-US" sz="2400" dirty="0" err="1">
                <a:latin typeface="Courier New" panose="02070309020205020404" pitchFamily="49" charset="0"/>
              </a:rPr>
              <a:t>MonthlyCharges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Contract</a:t>
            </a:r>
            <a:r>
              <a:rPr lang="en-US" sz="2400" dirty="0"/>
              <a:t>, </a:t>
            </a:r>
            <a:r>
              <a:rPr lang="en-US" sz="2400" dirty="0" err="1">
                <a:latin typeface="Courier New" panose="02070309020205020404" pitchFamily="49" charset="0"/>
              </a:rPr>
              <a:t>InternetService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Evaluate using </a:t>
            </a:r>
            <a:r>
              <a:rPr lang="en-US" sz="2400" b="1" dirty="0"/>
              <a:t>Accuracy, Precision, Recall, F1-score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Plot </a:t>
            </a:r>
            <a:r>
              <a:rPr lang="en-US" sz="2400" b="1" dirty="0"/>
              <a:t>Confusion Matrix &amp; ROC Curve</a:t>
            </a:r>
            <a:r>
              <a:rPr lang="en-US" sz="2400" dirty="0"/>
              <a:t>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F30EF02-C559-A3D8-8F89-0026B188A77A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2 </a:t>
            </a:r>
          </a:p>
        </p:txBody>
      </p:sp>
    </p:spTree>
    <p:extLst>
      <p:ext uri="{BB962C8B-B14F-4D97-AF65-F5344CB8AC3E}">
        <p14:creationId xmlns:p14="http://schemas.microsoft.com/office/powerpoint/2010/main" val="559465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47411-DD75-E0B4-E1C2-D9671173AFAE}"/>
              </a:ext>
            </a:extLst>
          </p:cNvPr>
          <p:cNvSpPr txBox="1"/>
          <p:nvPr/>
        </p:nvSpPr>
        <p:spPr>
          <a:xfrm>
            <a:off x="1328944" y="2258847"/>
            <a:ext cx="97134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Predict </a:t>
            </a:r>
            <a:r>
              <a:rPr lang="en-US" sz="2400" b="1" dirty="0"/>
              <a:t>used car prices</a:t>
            </a:r>
            <a:r>
              <a:rPr lang="en-US" sz="2400" dirty="0"/>
              <a:t> based on mileage, age, and horsepower.</a:t>
            </a:r>
          </a:p>
          <a:p>
            <a:pPr>
              <a:buNone/>
            </a:pPr>
            <a:r>
              <a:rPr lang="en-US" sz="2400" b="1" dirty="0"/>
              <a:t>Dataset:</a:t>
            </a:r>
            <a:r>
              <a:rPr lang="en-US" sz="2400" dirty="0"/>
              <a:t> Car Price Prediction </a:t>
            </a:r>
          </a:p>
          <a:p>
            <a:pPr>
              <a:buNone/>
            </a:pPr>
            <a:r>
              <a:rPr lang="en-US" sz="2400" b="1" dirty="0"/>
              <a:t>Instructions: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Choose features like </a:t>
            </a:r>
            <a:r>
              <a:rPr lang="en-US" sz="2400" dirty="0" err="1">
                <a:latin typeface="Courier New" panose="02070309020205020404" pitchFamily="49" charset="0"/>
              </a:rPr>
              <a:t>Kms_Driven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Year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Engine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Horsepower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Apply </a:t>
            </a:r>
            <a:r>
              <a:rPr lang="en-US" sz="2400" b="1" dirty="0"/>
              <a:t>Linear Regression</a:t>
            </a:r>
            <a:r>
              <a:rPr lang="en-US" sz="2400" dirty="0"/>
              <a:t> and record performance.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Apply </a:t>
            </a:r>
            <a:r>
              <a:rPr lang="en-US" sz="2400" b="1" dirty="0"/>
              <a:t>Polynomial Regression (degree=2,3,4)</a:t>
            </a:r>
            <a:r>
              <a:rPr lang="en-US" sz="2400" dirty="0"/>
              <a:t> and compare results.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Plot </a:t>
            </a:r>
            <a:r>
              <a:rPr lang="en-US" sz="2400" b="1" dirty="0"/>
              <a:t>fitted curves</a:t>
            </a:r>
            <a:r>
              <a:rPr lang="en-US" sz="2400" dirty="0"/>
              <a:t> for different polynomial degrees.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0BFB52-27D1-D568-B71E-557D6E356D18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3 </a:t>
            </a:r>
          </a:p>
        </p:txBody>
      </p:sp>
    </p:spTree>
    <p:extLst>
      <p:ext uri="{BB962C8B-B14F-4D97-AF65-F5344CB8AC3E}">
        <p14:creationId xmlns:p14="http://schemas.microsoft.com/office/powerpoint/2010/main" val="3853139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Austin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19275</TotalTime>
  <Words>2604</Words>
  <Application>Microsoft Office PowerPoint</Application>
  <PresentationFormat>Widescreen</PresentationFormat>
  <Paragraphs>289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</vt:lpstr>
      <vt:lpstr>Arial</vt:lpstr>
      <vt:lpstr>Calibri</vt:lpstr>
      <vt:lpstr>Cambria</vt:lpstr>
      <vt:lpstr>Cambria Math</vt:lpstr>
      <vt:lpstr>Courier New</vt:lpstr>
      <vt:lpstr>Garamond</vt:lpstr>
      <vt:lpstr>Inter</vt:lpstr>
      <vt:lpstr>Wingdings 2</vt:lpstr>
      <vt:lpstr>Organic</vt:lpstr>
      <vt:lpstr>Austin</vt:lpstr>
      <vt:lpstr>Machine Learning LAB </vt:lpstr>
      <vt:lpstr>Lab Contents</vt:lpstr>
      <vt:lpstr>Univariate Linear Regression</vt:lpstr>
      <vt:lpstr> Solution</vt:lpstr>
      <vt:lpstr>Load Dataset</vt:lpstr>
      <vt:lpstr>Load Dataset</vt:lpstr>
      <vt:lpstr>Calculate Parameters</vt:lpstr>
      <vt:lpstr>Estimate Parameters</vt:lpstr>
      <vt:lpstr>Plot Regression Line</vt:lpstr>
      <vt:lpstr>Calculate RMSE</vt:lpstr>
      <vt:lpstr>Calculating R2 Score</vt:lpstr>
      <vt:lpstr>MULTIVARIATE LINEAR REGRESSION</vt:lpstr>
      <vt:lpstr>MULTIVARIATE LINEAR REGRESSION</vt:lpstr>
      <vt:lpstr>MULTIVARIATE LINEAR REGRESSION</vt:lpstr>
      <vt:lpstr>PowerPoint Presentation</vt:lpstr>
      <vt:lpstr>MULTIVARIATE LINEAR REGRESSION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(Sklearn)</vt:lpstr>
      <vt:lpstr>Logistic Regression (Sklearn)</vt:lpstr>
      <vt:lpstr>Logistic Regression (Sklearn)</vt:lpstr>
      <vt:lpstr>PowerPoint Presentation</vt:lpstr>
      <vt:lpstr>PowerPoint Presentation</vt:lpstr>
      <vt:lpstr>Polynomial Regression</vt:lpstr>
      <vt:lpstr>Draw the line….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cp:lastModifiedBy>Kainat Abdullah</cp:lastModifiedBy>
  <cp:revision>319</cp:revision>
  <dcterms:created xsi:type="dcterms:W3CDTF">2020-04-16T04:39:44Z</dcterms:created>
  <dcterms:modified xsi:type="dcterms:W3CDTF">2026-09-21T08:53:24Z</dcterms:modified>
</cp:coreProperties>
</file>