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0"/>
  </p:notesMasterIdLst>
  <p:sldIdLst>
    <p:sldId id="301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33" r:id="rId11"/>
    <p:sldId id="310" r:id="rId12"/>
    <p:sldId id="334" r:id="rId13"/>
    <p:sldId id="311" r:id="rId14"/>
    <p:sldId id="312" r:id="rId15"/>
    <p:sldId id="313" r:id="rId16"/>
    <p:sldId id="314" r:id="rId17"/>
    <p:sldId id="315" r:id="rId18"/>
    <p:sldId id="336" r:id="rId19"/>
    <p:sldId id="33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37" r:id="rId34"/>
    <p:sldId id="338" r:id="rId35"/>
    <p:sldId id="339" r:id="rId36"/>
    <p:sldId id="340" r:id="rId37"/>
    <p:sldId id="341" r:id="rId38"/>
    <p:sldId id="34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64" d="100"/>
          <a:sy n="64" d="100"/>
        </p:scale>
        <p:origin x="67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2416A-0695-4964-9F00-9FB458EE13D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0E1A-C0C3-4BD3-B37F-796C48CAA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1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69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6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40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15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5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54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2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266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59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13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16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833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42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76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61AE38-13E8-4843-B23F-85C67EB5CDA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7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4.xml"/><Relationship Id="rId7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9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7" Type="http://schemas.openxmlformats.org/officeDocument/2006/relationships/slide" Target="slide31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5" Type="http://schemas.openxmlformats.org/officeDocument/2006/relationships/slide" Target="slide29.xml"/><Relationship Id="rId4" Type="http://schemas.openxmlformats.org/officeDocument/2006/relationships/slide" Target="slide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A5DA81-4C36-4310-92B7-8BB8D53B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1AB9D-6B26-485B-BA16-968D6DD03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Machine Learning LAB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C7AF8-0A58-439A-9E8E-47E5051A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447793"/>
            <a:ext cx="9603727" cy="896736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/>
              <a:t>PCA and Random Forest</a:t>
            </a:r>
            <a:endParaRPr lang="en-US" sz="48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87C957-7FC7-4EA7-BDD6-7D6B357C9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9999652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B3FD0533-6B9B-4D7B-940B-B0A1A7AA09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1244" y="1410207"/>
            <a:ext cx="2455875" cy="245587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1B9DA3-CEAD-441F-B353-6446DF8FB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8448" y="5501254"/>
            <a:ext cx="96037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07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008000"/>
                </a:solidFill>
                <a:latin typeface="Courier New" panose="02070309020205020404" pitchFamily="49" charset="0"/>
              </a:rPr>
              <a:t>Principal Components Analysis</a:t>
            </a:r>
            <a:endParaRPr lang="en-US" dirty="0"/>
          </a:p>
        </p:txBody>
      </p:sp>
      <p:sp>
        <p:nvSpPr>
          <p:cNvPr id="10" name="Contents"/>
          <p:cNvSpPr txBox="1"/>
          <p:nvPr/>
        </p:nvSpPr>
        <p:spPr>
          <a:xfrm>
            <a:off x="914400" y="1691640"/>
            <a:ext cx="10332720" cy="448056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342900" indent="-342900">
              <a:spcAft>
                <a:spcPts val="9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200" dirty="0">
                <a:hlinkClick r:id="rId2" action="ppaction://hlinksldjump"/>
              </a:rPr>
              <a:t>1 - Imports</a:t>
            </a:r>
          </a:p>
          <a:p>
            <a:pPr marL="342900" indent="-342900">
              <a:spcAft>
                <a:spcPts val="9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200" dirty="0">
                <a:hlinkClick r:id="rId3" action="ppaction://hlinksldjump"/>
              </a:rPr>
              <a:t>2.1 - Loading the data</a:t>
            </a:r>
          </a:p>
          <a:p>
            <a:pPr marL="342900" indent="-342900">
              <a:spcAft>
                <a:spcPts val="9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200" dirty="0">
                <a:hlinkClick r:id="rId4" action="ppaction://hlinksldjump"/>
              </a:rPr>
              <a:t>2.2 - Applying PCA</a:t>
            </a:r>
          </a:p>
          <a:p>
            <a:pPr marL="342900" indent="-342900">
              <a:spcAft>
                <a:spcPts val="9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200" dirty="0">
                <a:hlinkClick r:id="rId5" action="ppaction://hlinksldjump"/>
              </a:rPr>
              <a:t>2.3 - Visualizing the Principal Components</a:t>
            </a:r>
          </a:p>
          <a:p>
            <a:pPr marL="342900" indent="-342900">
              <a:spcAft>
                <a:spcPts val="9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200" dirty="0">
                <a:hlinkClick r:id="rId6" action="ppaction://hlinksldjump"/>
              </a:rPr>
              <a:t>2.4 - Interpreting the Principal Components</a:t>
            </a:r>
          </a:p>
          <a:p>
            <a:pPr marL="342900" indent="-342900">
              <a:spcAft>
                <a:spcPts val="9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200" dirty="0">
                <a:hlinkClick r:id="rId7" action="ppaction://hlinksldjump"/>
              </a:rPr>
              <a:t>2.5 - Explained Variance Ratio</a:t>
            </a:r>
          </a:p>
          <a:p>
            <a:pPr marL="342900" indent="-342900">
              <a:spcAft>
                <a:spcPts val="9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200" dirty="0">
                <a:hlinkClick r:id="rId8" action="ppaction://hlinksldjump"/>
              </a:rPr>
              <a:t>2.6 - Choosing the Number of Components</a:t>
            </a:r>
          </a:p>
          <a:p>
            <a:pPr marL="342900" indent="-342900">
              <a:spcAft>
                <a:spcPts val="9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200" dirty="0">
                <a:hlinkClick r:id="rId9" action="ppaction://hlinksldjump"/>
              </a:rPr>
              <a:t>3 - PCA for Digits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IMPORTS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256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numpy </a:t>
            </a: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np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pandas </a:t>
            </a: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pd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seaborn </a:t>
            </a: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sns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matplotlib.pyplot </a:t>
            </a: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plt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sklearn.datasets </a:t>
            </a: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load_wine, load_digits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sklearn.preprocessing </a:t>
            </a: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StandardScaler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sklearn.decomposition </a:t>
            </a: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PCA</a:t>
            </a:r>
            <a:endParaRPr lang="en-US" sz="20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LOADING THE DATA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246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wine = load_wine()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X = wine.data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y = wine.target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feat_names = wine.feature_names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target_names = wine.target_names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"Original dataset shape:"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 X.shape)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"Target shape:"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 y.shape)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"Feature names:"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 feat_names)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"Target names:"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 target_names)</a:t>
            </a:r>
            <a:endParaRPr lang="en-US" sz="1400" dirty="0">
              <a:latin typeface="Courier New" panose="02070309020205020404" pitchFamily="49" charset="0"/>
            </a:endParaRPr>
          </a:p>
        </p:txBody>
      </p:sp>
      <p:pic>
        <p:nvPicPr>
          <p:cNvPr id="11" name="Output 1" descr="Output: dataset shapes, feature names and target nam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94950"/>
            <a:ext cx="10744200" cy="15719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APPLYING PCA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2242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# Step 1: Standardize the data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scaler = StandardScaler()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X_scaled = scaler.fit_transform(X)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# Step 2: Reduce the data to two principal components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pca = PCA(n_components=</a:t>
            </a:r>
            <a:r>
              <a:rPr lang="en-US" sz="1400" dirty="0">
                <a:solidFill>
                  <a:srgbClr val="098658"/>
                </a:solidFill>
                <a:latin typeface="Courier New" panose="020703090202050204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X_reduced = pca.fit_transform(X_scaled)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"Original dataset shape:"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 X.shape)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"Reduced dataset shape:"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 X_reduced.shape)</a:t>
            </a:r>
            <a:endParaRPr lang="en-US" sz="1400" dirty="0">
              <a:latin typeface="Courier New" panose="02070309020205020404" pitchFamily="49" charset="0"/>
            </a:endParaRPr>
          </a:p>
        </p:txBody>
      </p:sp>
      <p:pic>
        <p:nvPicPr>
          <p:cNvPr id="11" name="Output 1" descr="Output: original and reduced dataset shap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72700"/>
            <a:ext cx="4417500" cy="74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VISUALIZING COMPONENTS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4287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wine_colors = [</a:t>
            </a:r>
            <a:r>
              <a:rPr lang="en-US" sz="1300" dirty="0">
                <a:solidFill>
                  <a:srgbClr val="A31515"/>
                </a:solidFill>
                <a:latin typeface="Courier New" panose="02070309020205020404" pitchFamily="49" charset="0"/>
              </a:rPr>
              <a:t>'orangered'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300" dirty="0">
                <a:solidFill>
                  <a:srgbClr val="A31515"/>
                </a:solidFill>
                <a:latin typeface="Courier New" panose="02070309020205020404" pitchFamily="49" charset="0"/>
              </a:rPr>
              <a:t>'darkred'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300" dirty="0">
                <a:solidFill>
                  <a:srgbClr val="A31515"/>
                </a:solidFill>
                <a:latin typeface="Courier New" panose="02070309020205020404" pitchFamily="49" charset="0"/>
              </a:rPr>
              <a:t>'crimson'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plt.figure(figsize=(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10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6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9723B4"/>
                </a:solidFill>
                <a:latin typeface="Courier New" panose="02070309020205020404" pitchFamily="49" charset="0"/>
              </a:rPr>
              <a:t>for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 class_num, color, target_name </a:t>
            </a:r>
            <a:r>
              <a:rPr lang="en-US" sz="1300" dirty="0">
                <a:solidFill>
                  <a:srgbClr val="9723B4"/>
                </a:solidFill>
                <a:latin typeface="Courier New" panose="02070309020205020404" pitchFamily="49" charset="0"/>
              </a:rPr>
              <a:t>in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 zip(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    [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2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], wine_colors, target_names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):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    plt.scatter(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        X_reduced[y == class_num, 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],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        X_reduced[y == class_num, 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],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        color=color,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        label=target_name,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        alpha=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0.7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    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plt.title(</a:t>
            </a:r>
            <a:r>
              <a:rPr lang="en-US" sz="1300" dirty="0">
                <a:solidFill>
                  <a:srgbClr val="A31515"/>
                </a:solidFill>
                <a:latin typeface="Courier New" panose="02070309020205020404" pitchFamily="49" charset="0"/>
              </a:rPr>
              <a:t>'PCA of Wine Dataset'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plt.xlabel(</a:t>
            </a:r>
            <a:r>
              <a:rPr lang="en-US" sz="1300" dirty="0">
                <a:solidFill>
                  <a:srgbClr val="A31515"/>
                </a:solidFill>
                <a:latin typeface="Courier New" panose="02070309020205020404" pitchFamily="49" charset="0"/>
              </a:rPr>
              <a:t>'First Principal Component'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plt.ylabel(</a:t>
            </a:r>
            <a:r>
              <a:rPr lang="en-US" sz="1300" dirty="0">
                <a:solidFill>
                  <a:srgbClr val="A31515"/>
                </a:solidFill>
                <a:latin typeface="Courier New" panose="02070309020205020404" pitchFamily="49" charset="0"/>
              </a:rPr>
              <a:t>'Second Principal Component'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plt.legend()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plt.grid(alpha=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0.2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plt.show()</a:t>
            </a:r>
            <a:endParaRPr lang="en-US" sz="13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PCA OF WINE DATASET</a:t>
            </a:r>
            <a:endParaRPr lang="en-US" dirty="0"/>
          </a:p>
        </p:txBody>
      </p:sp>
      <p:pic>
        <p:nvPicPr>
          <p:cNvPr id="11" name="Output 1" descr="Scatter plot of the wine data on the first two principal components, coloured by cla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059" y="1650000"/>
            <a:ext cx="6711882" cy="435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INTERPRETING COMPONENTS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1163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"Principal component loadings:"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print(pca.components_)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"Shape of principal components:"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pca.components_.shape)</a:t>
            </a:r>
            <a:endParaRPr lang="en-US" sz="1800" dirty="0">
              <a:latin typeface="Courier New" panose="02070309020205020404" pitchFamily="49" charset="0"/>
            </a:endParaRPr>
          </a:p>
        </p:txBody>
      </p:sp>
      <p:pic>
        <p:nvPicPr>
          <p:cNvPr id="11" name="Output 1" descr="Output: loadings matrix of the two components and its shap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93200"/>
            <a:ext cx="9452500" cy="239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COMPONENTS HEATMAP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383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plt.figure(figsize=(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14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sns.heatmap(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pca.components_,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cmap=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'viridis'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xticklabels=feat_names,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yticklabels=[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'First Component'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'Second Component'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plt.title(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'PCA Component Loadings'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plt.xlabel(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'Original Features'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plt.ylabel(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'Principal Components'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plt.xticks(rotation=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45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ha=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'right'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plt.tight_layout()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plt.show()</a:t>
            </a:r>
            <a:endParaRPr lang="en-US" sz="16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PCA COMPONENT LOADINGS</a:t>
            </a:r>
            <a:endParaRPr lang="en-US" dirty="0"/>
          </a:p>
        </p:txBody>
      </p:sp>
      <p:pic>
        <p:nvPicPr>
          <p:cNvPr id="11" name="Output 1" descr="Heatmap of the loadings of each original feature on the two principal compon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000" y="1650000"/>
            <a:ext cx="10000000" cy="39294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EXPLAINED VARIANCE RATIO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1607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2000" dirty="0">
                <a:solidFill>
                  <a:srgbClr val="A31515"/>
                </a:solidFill>
                <a:latin typeface="Courier New" panose="02070309020205020404" pitchFamily="49" charset="0"/>
              </a:rPr>
              <a:t>"Explained variance:"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print(pca.explained_variance_)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2000" dirty="0">
                <a:solidFill>
                  <a:srgbClr val="A31515"/>
                </a:solidFill>
                <a:latin typeface="Courier New" panose="02070309020205020404" pitchFamily="49" charset="0"/>
              </a:rPr>
              <a:t>"\nExplained variance ratio:"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print(pca.explained_variance_ratio_)</a:t>
            </a:r>
            <a:endParaRPr lang="en-US" sz="2000" dirty="0">
              <a:latin typeface="Courier New" panose="02070309020205020404" pitchFamily="49" charset="0"/>
            </a:endParaRPr>
          </a:p>
        </p:txBody>
      </p:sp>
      <p:pic>
        <p:nvPicPr>
          <p:cNvPr id="11" name="Output 1" descr="Output: explained variance and explained variance ratio of the two compon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37700"/>
            <a:ext cx="3410500" cy="1567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VARIANCE EXPLAINED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2052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"Variance explained by first component:"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round(pca.explained_variance_ratio_[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] * 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), 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"%"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"Variance explained by second component:"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round(pca.explained_variance_ratio_[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] * 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), 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"%"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"Total variance explained by two components:"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round(np.sum(pca.explained_variance_ratio_) * 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), 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"%"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</p:txBody>
      </p:sp>
      <p:pic>
        <p:nvPicPr>
          <p:cNvPr id="11" name="Output 1" descr="Output: percentage of variance explained by each component and in tot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82200"/>
            <a:ext cx="5483400" cy="834600"/>
          </a:xfrm>
          <a:prstGeom prst="rect">
            <a:avLst/>
          </a:prstGeom>
        </p:spPr>
      </p:pic>
      <p:sp>
        <p:nvSpPr>
          <p:cNvPr id="12" name="Note"/>
          <p:cNvSpPr txBox="1"/>
          <p:nvPr/>
        </p:nvSpPr>
        <p:spPr>
          <a:xfrm>
            <a:off x="731520" y="5016800"/>
            <a:ext cx="10744200" cy="95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n-US" sz="1800" i="1" dirty="0">
                <a:solidFill>
                  <a:srgbClr val="404040"/>
                </a:solidFill>
              </a:rPr>
              <a:t>After scaling, no single feature dominates, so the variance is shared between the components. Two components keep 55.41% of the total. On the raw data, 'proline' has by far the largest scale and pushed the first component to about 99.8%.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CHOOSING COMPONENTS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4287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Courier New" panose="02070309020205020404" pitchFamily="49" charset="0"/>
              </a:rPr>
              <a:t># Apply PCA using all components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pca_2 = PCA()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pca_2.fit(X_scaled)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exp_var_ratio = pca_2.explained_variance_ratio_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cumsum = np.cumsum(exp_var_ratio)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plt.figure(figsize=(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8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5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plt.plot(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    range(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, len(cumsum) + 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),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    cumsum,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    marker=</a:t>
            </a:r>
            <a:r>
              <a:rPr lang="en-US" sz="1300" dirty="0">
                <a:solidFill>
                  <a:srgbClr val="A31515"/>
                </a:solidFill>
                <a:latin typeface="Courier New" panose="02070309020205020404" pitchFamily="49" charset="0"/>
              </a:rPr>
              <a:t>'o'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plt.xlabel(</a:t>
            </a:r>
            <a:r>
              <a:rPr lang="en-US" sz="1300" dirty="0">
                <a:solidFill>
                  <a:srgbClr val="A31515"/>
                </a:solidFill>
                <a:latin typeface="Courier New" panose="02070309020205020404" pitchFamily="49" charset="0"/>
              </a:rPr>
              <a:t>'Number of Components'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plt.ylabel(</a:t>
            </a:r>
            <a:r>
              <a:rPr lang="en-US" sz="1300" dirty="0">
                <a:solidFill>
                  <a:srgbClr val="A31515"/>
                </a:solidFill>
                <a:latin typeface="Courier New" panose="02070309020205020404" pitchFamily="49" charset="0"/>
              </a:rPr>
              <a:t>'Cumulative Explained Variance'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plt.title(</a:t>
            </a:r>
            <a:r>
              <a:rPr lang="en-US" sz="1300" dirty="0">
                <a:solidFill>
                  <a:srgbClr val="A31515"/>
                </a:solidFill>
                <a:latin typeface="Courier New" panose="02070309020205020404" pitchFamily="49" charset="0"/>
              </a:rPr>
              <a:t>'Cumulative Explained Variance'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plt.xticks(range(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, len(cumsum) + </a:t>
            </a:r>
            <a:r>
              <a:rPr lang="en-US" sz="1300" dirty="0">
                <a:solidFill>
                  <a:srgbClr val="098658"/>
                </a:solidFill>
                <a:latin typeface="Courier New" panose="020703090202050204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plt.grid()</a:t>
            </a:r>
            <a:endParaRPr lang="en-US" sz="1300" dirty="0"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anose="02070309020205020404" pitchFamily="49" charset="0"/>
              </a:rPr>
              <a:t>plt.show()</a:t>
            </a:r>
            <a:endParaRPr lang="en-US" sz="13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CUMULATIVE VARIANCE</a:t>
            </a:r>
            <a:endParaRPr lang="en-US" dirty="0"/>
          </a:p>
        </p:txBody>
      </p:sp>
      <p:pic>
        <p:nvPicPr>
          <p:cNvPr id="11" name="Output 1" descr="Line plot of cumulative explained variance against the number of compon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287" y="1650000"/>
            <a:ext cx="6395425" cy="435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CHOOSING BY VARIANCE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256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# Keep enough components to explain at least 96% of variance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pca_3 = PCA(n_components=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0.96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X_reduced_96 = pca_3.fit_transform(X_scaled)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"Number of components selected:"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pca_3.n_components_)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"Total explained variance:"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np.sum(pca_3.explained_variance_ratio_))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"Reduced dataset shape:"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X_reduced_96.shape)</a:t>
            </a:r>
            <a:endParaRPr lang="en-US" sz="1600" dirty="0">
              <a:latin typeface="Courier New" panose="02070309020205020404" pitchFamily="49" charset="0"/>
            </a:endParaRPr>
          </a:p>
        </p:txBody>
      </p:sp>
      <p:pic>
        <p:nvPicPr>
          <p:cNvPr id="11" name="Output 1" descr="Output: number of components selected for 96 percent variance, total variance and reduced shap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90200"/>
            <a:ext cx="5804500" cy="1016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PCA ON DIGITS DATA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2687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digits = load_digits()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digits_data = digits.data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digits_target = digits.target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"Original Digits dataset shape:"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 digits_data.shape)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# Reduce the digit images to two components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dig_pca = PCA(n_components=</a:t>
            </a:r>
            <a:r>
              <a:rPr lang="en-US" sz="1400" dirty="0">
                <a:solidFill>
                  <a:srgbClr val="098658"/>
                </a:solidFill>
                <a:latin typeface="Courier New" panose="020703090202050204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digit_reduced = dig_pca.fit_transform(digits_data)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"Reduced Digits dataset shape:"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 digit_reduced.shape)</a:t>
            </a:r>
            <a:endParaRPr lang="en-US" sz="1400" dirty="0">
              <a:latin typeface="Courier New" panose="02070309020205020404" pitchFamily="49" charset="0"/>
            </a:endParaRPr>
          </a:p>
        </p:txBody>
      </p:sp>
      <p:pic>
        <p:nvPicPr>
          <p:cNvPr id="11" name="Output 1" descr="Output: original and reduced digits dataset shap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17200"/>
            <a:ext cx="5424500" cy="741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VISUALIZING THE DIGITS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4084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plt.figure(figsize=(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scatter = plt.scatter(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digit_reduced[:, 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],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digit_reduced[:, 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],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c=digits_target,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cmap=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'jet'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edgecolors=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'none'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plt.xlabel(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'First Principal Component'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plt.ylabel(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'Second Principal Component'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plt.title(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'PCA Visualization of Digits Dataset'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plt.colorbar(scatter, label=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'Digit Class'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plt.grid(alpha=</a:t>
            </a:r>
            <a:r>
              <a:rPr lang="en-US" sz="1600" dirty="0">
                <a:solidFill>
                  <a:srgbClr val="098658"/>
                </a:solidFill>
                <a:latin typeface="Courier New" panose="02070309020205020404" pitchFamily="49" charset="0"/>
              </a:rPr>
              <a:t>0.2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plt.show()</a:t>
            </a:r>
            <a:endParaRPr lang="en-US" sz="16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PCA OF DIGITS DATASET</a:t>
            </a:r>
            <a:endParaRPr lang="en-US" dirty="0"/>
          </a:p>
        </p:txBody>
      </p:sp>
      <p:pic>
        <p:nvPicPr>
          <p:cNvPr id="11" name="Output 1" descr="Scatter plot of the digits data on the first two principal components, coloured by digit cla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965" y="1650000"/>
            <a:ext cx="6346069" cy="435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DIGITS EXPLAINED VARIANCE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1448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"Digits explained variance ratio:"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print(dig_pca.explained_variance_ratio_)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"Total variance explained by two components:"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round(np.sum(dig_pca.explained_variance_ratio_) * </a:t>
            </a:r>
            <a:r>
              <a:rPr lang="en-US" sz="1800" dirty="0">
                <a:solidFill>
                  <a:srgbClr val="098658"/>
                </a:solidFill>
                <a:latin typeface="Courier New" panose="02070309020205020404" pitchFamily="49" charset="0"/>
              </a:rPr>
              <a:t>100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), 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"%"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800" dirty="0">
              <a:latin typeface="Courier New" panose="02070309020205020404" pitchFamily="49" charset="0"/>
            </a:endParaRPr>
          </a:p>
        </p:txBody>
      </p:sp>
      <p:pic>
        <p:nvPicPr>
          <p:cNvPr id="11" name="Output 1" descr="Output: explained variance ratio of the two digits components and their tot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78950"/>
            <a:ext cx="6678500" cy="1016500"/>
          </a:xfrm>
          <a:prstGeom prst="rect">
            <a:avLst/>
          </a:prstGeom>
        </p:spPr>
      </p:pic>
      <p:sp>
        <p:nvSpPr>
          <p:cNvPr id="12" name="Note"/>
          <p:cNvSpPr txBox="1"/>
          <p:nvPr/>
        </p:nvSpPr>
        <p:spPr>
          <a:xfrm>
            <a:off x="731520" y="4595450"/>
            <a:ext cx="10744200" cy="95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n-US" sz="1800" i="1" dirty="0">
                <a:solidFill>
                  <a:srgbClr val="404040"/>
                </a:solidFill>
              </a:rPr>
              <a:t>Two components keep only 28.51% of the variance here, so the digit classes overlap a lot in the 2D plot.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008000"/>
                </a:solidFill>
                <a:latin typeface="Courier New" panose="02070309020205020404" pitchFamily="49" charset="0"/>
              </a:rPr>
              <a:t>Random Forests for Regression</a:t>
            </a:r>
            <a:endParaRPr lang="en-US" dirty="0"/>
          </a:p>
        </p:txBody>
      </p:sp>
      <p:sp>
        <p:nvSpPr>
          <p:cNvPr id="10" name="Contents"/>
          <p:cNvSpPr txBox="1"/>
          <p:nvPr/>
        </p:nvSpPr>
        <p:spPr>
          <a:xfrm>
            <a:off x="731520" y="1691640"/>
            <a:ext cx="5300000" cy="430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342900" indent="-342900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000" dirty="0">
                <a:hlinkClick r:id="rId2" action="ppaction://hlinksldjump"/>
              </a:rPr>
              <a:t>1 - Imports</a:t>
            </a:r>
          </a:p>
          <a:p>
            <a:pPr marL="342900" indent="-342900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000" dirty="0">
                <a:hlinkClick r:id="rId3" action="ppaction://hlinksldjump"/>
              </a:rPr>
              <a:t>2 - Loading the data</a:t>
            </a:r>
          </a:p>
          <a:p>
            <a:pPr marL="342900" indent="-342900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000" dirty="0">
                <a:hlinkClick r:id="rId4" action="ppaction://hlinksldjump"/>
              </a:rPr>
              <a:t>3 - Data visualization</a:t>
            </a:r>
          </a:p>
          <a:p>
            <a:pPr marL="342900" indent="-342900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000" dirty="0">
                <a:hlinkClick r:id="rId5" action="ppaction://hlinksldjump"/>
              </a:rPr>
              <a:t>4 - Features and target</a:t>
            </a:r>
          </a:p>
          <a:p>
            <a:pPr marL="342900" indent="-342900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000" dirty="0">
                <a:hlinkClick r:id="rId6" action="ppaction://hlinksldjump"/>
              </a:rPr>
              <a:t>5 - Splitting the data</a:t>
            </a:r>
          </a:p>
          <a:p>
            <a:pPr marL="342900" indent="-342900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lang="en-US" sz="2000" dirty="0">
                <a:hlinkClick r:id="rId7" action="ppaction://hlinksldjump"/>
              </a:rPr>
              <a:t>6 - Training an initial forest</a:t>
            </a:r>
          </a:p>
        </p:txBody>
      </p:sp>
      <p:sp>
        <p:nvSpPr>
          <p:cNvPr id="11" name="Contents 2"/>
          <p:cNvSpPr txBox="1"/>
          <p:nvPr/>
        </p:nvSpPr>
        <p:spPr>
          <a:xfrm>
            <a:off x="6350000" y="1691640"/>
            <a:ext cx="5300000" cy="430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342900" indent="-342900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endParaRPr lang="en-US" sz="2000" dirty="0">
              <a:hlinkClick r:id="" action="ppaction://noactio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IMPORTS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256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numpy </a:t>
            </a: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np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pandas </a:t>
            </a: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pd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matplotlib.pyplot </a:t>
            </a: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plt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seaborn </a:t>
            </a: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sns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sklearn.model_selection </a:t>
            </a: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train_test_split, GridSearchCV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sklearn.ensemble </a:t>
            </a: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RandomForestRegressor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sklearn.metrics </a:t>
            </a:r>
            <a:r>
              <a:rPr lang="en-US" sz="2000" dirty="0">
                <a:solidFill>
                  <a:srgbClr val="9723B4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mean_squared_error, r2_score</a:t>
            </a:r>
            <a:endParaRPr lang="en-US" sz="20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LOADING THE DATA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2687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url = (</a:t>
            </a:r>
            <a:endParaRPr lang="en-US" sz="1200" dirty="0">
              <a:latin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"https://archive.ics.uci.edu/ml/"</a:t>
            </a:r>
            <a:endParaRPr lang="en-US" sz="1200" dirty="0">
              <a:latin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"machine-learning-databases/cpu-performance/machine.data"</a:t>
            </a:r>
            <a:endParaRPr lang="en-US" sz="1200" dirty="0">
              <a:latin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200" dirty="0">
              <a:latin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endParaRPr lang="en-US" sz="1200" dirty="0">
              <a:latin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columns = [</a:t>
            </a:r>
            <a:endParaRPr lang="en-US" sz="1200" dirty="0">
              <a:latin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"vendor"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"model"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"MYCT"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"MMIN"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"MMAX"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endParaRPr lang="en-US" sz="1200" dirty="0">
              <a:latin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"CACH"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"CHMIN"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"CHMAX"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"PRP"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"ERP"</a:t>
            </a:r>
            <a:endParaRPr lang="en-US" sz="1200" dirty="0">
              <a:latin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endParaRPr lang="en-US" sz="1200" dirty="0">
              <a:latin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endParaRPr lang="en-US" sz="1200" dirty="0">
              <a:latin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data = pd.read_csv(url, names=columns)</a:t>
            </a:r>
            <a:endParaRPr lang="en-US" sz="1200" dirty="0">
              <a:latin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endParaRPr lang="en-US" sz="1200" dirty="0">
              <a:latin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200" dirty="0">
                <a:solidFill>
                  <a:srgbClr val="A31515"/>
                </a:solidFill>
                <a:latin typeface="Courier New" panose="02070309020205020404" pitchFamily="49" charset="0"/>
              </a:rPr>
              <a:t>"First five rows:"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200" dirty="0">
              <a:latin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print(data.head())</a:t>
            </a:r>
            <a:endParaRPr lang="en-US" sz="1200" dirty="0">
              <a:latin typeface="Courier New" panose="02070309020205020404" pitchFamily="49" charset="0"/>
            </a:endParaRPr>
          </a:p>
        </p:txBody>
      </p:sp>
      <p:pic>
        <p:nvPicPr>
          <p:cNvPr id="11" name="Output 1" descr="Output: first five rows of the CPU performance da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17200"/>
            <a:ext cx="5677314" cy="1362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SHAPE AND MISSING VALUES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8772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"\nDataset shape:"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data.shape)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"\nMissing values:"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print(data.isnull().sum())</a:t>
            </a:r>
            <a:endParaRPr lang="en-US" sz="1800" dirty="0">
              <a:latin typeface="Courier New" panose="02070309020205020404" pitchFamily="49" charset="0"/>
            </a:endParaRPr>
          </a:p>
        </p:txBody>
      </p:sp>
      <p:pic>
        <p:nvPicPr>
          <p:cNvPr id="11" name="Output 1" descr="Output: dataset shape and the count of missing values per colum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07450"/>
            <a:ext cx="2576765" cy="3172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008000"/>
                </a:solidFill>
                <a:latin typeface="Courier New" panose="02070309020205020404" pitchFamily="49" charset="0"/>
              </a:rPr>
              <a:t>DATA VISUALIZATION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972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data.hist(figsize=(</a:t>
            </a:r>
            <a:r>
              <a:rPr lang="en-US" sz="2000" dirty="0">
                <a:solidFill>
                  <a:srgbClr val="098658"/>
                </a:solidFill>
                <a:latin typeface="Courier New" panose="02070309020205020404" pitchFamily="49" charset="0"/>
              </a:rPr>
              <a:t>12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098658"/>
                </a:solidFill>
                <a:latin typeface="Courier New" panose="02070309020205020404" pitchFamily="49" charset="0"/>
              </a:rPr>
              <a:t>8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), bins=</a:t>
            </a:r>
            <a:r>
              <a:rPr lang="en-US" sz="2000" dirty="0">
                <a:solidFill>
                  <a:srgbClr val="098658"/>
                </a:solidFill>
                <a:latin typeface="Courier New" panose="02070309020205020404" pitchFamily="49" charset="0"/>
              </a:rPr>
              <a:t>15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plt.tight_layout()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plt.show()</a:t>
            </a:r>
            <a:endParaRPr lang="en-US" sz="20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008000"/>
                </a:solidFill>
                <a:latin typeface="Courier New" panose="02070309020205020404" pitchFamily="49" charset="0"/>
              </a:rPr>
              <a:t>FEATURE HISTOGRAMS</a:t>
            </a:r>
            <a:endParaRPr lang="en-US" dirty="0"/>
          </a:p>
        </p:txBody>
      </p:sp>
      <p:pic>
        <p:nvPicPr>
          <p:cNvPr id="11" name="Output 1" descr="Histograms of all numerical columns of the CPU performance da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487" y="1650000"/>
            <a:ext cx="6547025" cy="435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008000"/>
                </a:solidFill>
                <a:latin typeface="Courier New" panose="02070309020205020404" pitchFamily="49" charset="0"/>
              </a:rPr>
              <a:t>CORRELATION WITH PRP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1448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8000"/>
                </a:solidFill>
                <a:latin typeface="Courier New" panose="02070309020205020404" pitchFamily="49" charset="0"/>
              </a:rPr>
              <a:t># Correlation between numerical columns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correlation = data.select_dtypes(include=np.number).corr()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"\nCorrelation with PRP:"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print(correlation[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"PRP"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].sort_values(ascending=False))</a:t>
            </a:r>
            <a:endParaRPr lang="en-US" sz="1800" dirty="0">
              <a:latin typeface="Courier New" panose="02070309020205020404" pitchFamily="49" charset="0"/>
            </a:endParaRPr>
          </a:p>
        </p:txBody>
      </p:sp>
      <p:pic>
        <p:nvPicPr>
          <p:cNvPr id="11" name="Output 1" descr="Output: correlation of each numerical column with PRP, sorted from highest to low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78950"/>
            <a:ext cx="3012183" cy="26010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008000"/>
                </a:solidFill>
                <a:latin typeface="Courier New" panose="02070309020205020404" pitchFamily="49" charset="0"/>
              </a:rPr>
              <a:t>CORRELATION HEATMAP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1607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plt.figure(figsize=(</a:t>
            </a:r>
            <a:r>
              <a:rPr lang="en-US" sz="2000" dirty="0">
                <a:solidFill>
                  <a:srgbClr val="098658"/>
                </a:solidFill>
                <a:latin typeface="Courier New" panose="02070309020205020404" pitchFamily="49" charset="0"/>
              </a:rPr>
              <a:t>10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098658"/>
                </a:solidFill>
                <a:latin typeface="Courier New" panose="02070309020205020404" pitchFamily="49" charset="0"/>
              </a:rPr>
              <a:t>7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sns.heatmap(correlation, annot=True, cmap=</a:t>
            </a:r>
            <a:r>
              <a:rPr lang="en-US" sz="2000" dirty="0">
                <a:solidFill>
                  <a:srgbClr val="A31515"/>
                </a:solidFill>
                <a:latin typeface="Courier New" panose="02070309020205020404" pitchFamily="49" charset="0"/>
              </a:rPr>
              <a:t>"coolwarm"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, fmt=</a:t>
            </a:r>
            <a:r>
              <a:rPr lang="en-US" sz="2000" dirty="0">
                <a:solidFill>
                  <a:srgbClr val="A31515"/>
                </a:solidFill>
                <a:latin typeface="Courier New" panose="02070309020205020404" pitchFamily="49" charset="0"/>
              </a:rPr>
              <a:t>".2f"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plt.title(</a:t>
            </a:r>
            <a:r>
              <a:rPr lang="en-US" sz="2000" dirty="0">
                <a:solidFill>
                  <a:srgbClr val="A31515"/>
                </a:solidFill>
                <a:latin typeface="Courier New" panose="02070309020205020404" pitchFamily="49" charset="0"/>
              </a:rPr>
              <a:t>"Correlation Heatmap"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plt.tight_layout()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plt.show()</a:t>
            </a:r>
            <a:endParaRPr lang="en-US" sz="20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008000"/>
                </a:solidFill>
                <a:latin typeface="Courier New" panose="02070309020205020404" pitchFamily="49" charset="0"/>
              </a:rPr>
              <a:t>HEATMAP OF CORRELATIONS</a:t>
            </a:r>
            <a:endParaRPr lang="en-US" dirty="0"/>
          </a:p>
        </p:txBody>
      </p:sp>
      <p:pic>
        <p:nvPicPr>
          <p:cNvPr id="11" name="Output 1" descr="Annotated heatmap of the correlation between all numerical colum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696" y="1650000"/>
            <a:ext cx="5812608" cy="435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008000"/>
                </a:solidFill>
                <a:latin typeface="Courier New" panose="02070309020205020404" pitchFamily="49" charset="0"/>
              </a:rPr>
              <a:t>FEATURES AND TARGET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20202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# Predict PRP using hardware characteristics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X = data.drop(columns=[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"PRP"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"ERP"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"vendor"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"model"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])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y = data[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"PRP"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"\nFeatures:"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print(X.head())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400" dirty="0">
                <a:solidFill>
                  <a:srgbClr val="A31515"/>
                </a:solidFill>
                <a:latin typeface="Courier New" panose="02070309020205020404" pitchFamily="49" charset="0"/>
              </a:rPr>
              <a:t>"\nTarget:"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400" dirty="0">
              <a:latin typeface="Courier New" panose="02070309020205020404" pitchFamily="49" charset="0"/>
            </a:endParaRPr>
          </a:p>
          <a:p>
            <a:pPr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print(y.head())</a:t>
            </a:r>
            <a:endParaRPr lang="en-US" sz="1400" dirty="0">
              <a:latin typeface="Courier New" panose="02070309020205020404" pitchFamily="49" charset="0"/>
            </a:endParaRPr>
          </a:p>
        </p:txBody>
      </p:sp>
      <p:pic>
        <p:nvPicPr>
          <p:cNvPr id="11" name="Output 1" descr="Output: first five rows of the features and of the targ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50450"/>
            <a:ext cx="5078425" cy="2029549"/>
          </a:xfrm>
          <a:prstGeom prst="rect">
            <a:avLst/>
          </a:prstGeom>
        </p:spPr>
      </p:pic>
      <p:pic>
        <p:nvPicPr>
          <p:cNvPr id="12" name="Output 2" descr="Output: first five rows of the features and of the 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945" y="3850450"/>
            <a:ext cx="3021572" cy="202954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SPLITTING THE DATA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2877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X_train, X_test, y_train, y_test = train_test_split(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X,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y,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test_size=</a:t>
            </a:r>
            <a:r>
              <a:rPr lang="en-US" sz="2000" dirty="0">
                <a:solidFill>
                  <a:srgbClr val="098658"/>
                </a:solidFill>
                <a:latin typeface="Courier New" panose="02070309020205020404" pitchFamily="49" charset="0"/>
              </a:rPr>
              <a:t>0.2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random_state=</a:t>
            </a:r>
            <a:r>
              <a:rPr lang="en-US" sz="2000" dirty="0">
                <a:solidFill>
                  <a:srgbClr val="098658"/>
                </a:solidFill>
                <a:latin typeface="Courier New" panose="02070309020205020404" pitchFamily="49" charset="0"/>
              </a:rPr>
              <a:t>42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2000" dirty="0">
                <a:solidFill>
                  <a:srgbClr val="A31515"/>
                </a:solidFill>
                <a:latin typeface="Courier New" panose="02070309020205020404" pitchFamily="49" charset="0"/>
              </a:rPr>
              <a:t>"\nTraining samples:"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, len(X_train))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2000" dirty="0">
                <a:solidFill>
                  <a:srgbClr val="A31515"/>
                </a:solidFill>
                <a:latin typeface="Courier New" panose="02070309020205020404" pitchFamily="49" charset="0"/>
              </a:rPr>
              <a:t>"Testing samples:"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, len(X_test))</a:t>
            </a:r>
            <a:endParaRPr lang="en-US" sz="2000" dirty="0">
              <a:latin typeface="Courier New" panose="02070309020205020404" pitchFamily="49" charset="0"/>
            </a:endParaRPr>
          </a:p>
        </p:txBody>
      </p:sp>
      <p:pic>
        <p:nvPicPr>
          <p:cNvPr id="11" name="Output 1" descr="Output: number of training and testing samp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707700"/>
            <a:ext cx="2907000" cy="741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TRAINING RANDOM FOREST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2877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forest_reg = RandomForestRegressor(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n_estimators=</a:t>
            </a:r>
            <a:r>
              <a:rPr lang="en-US" sz="2000" dirty="0">
                <a:solidFill>
                  <a:srgbClr val="098658"/>
                </a:solidFill>
                <a:latin typeface="Courier New" panose="02070309020205020404" pitchFamily="49" charset="0"/>
              </a:rPr>
              <a:t>200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random_state=</a:t>
            </a:r>
            <a:r>
              <a:rPr lang="en-US" sz="2000" dirty="0">
                <a:solidFill>
                  <a:srgbClr val="098658"/>
                </a:solidFill>
                <a:latin typeface="Courier New" panose="02070309020205020404" pitchFamily="49" charset="0"/>
              </a:rPr>
              <a:t>42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n_jobs=-</a:t>
            </a:r>
            <a:r>
              <a:rPr lang="en-US" sz="2000" dirty="0">
                <a:solidFill>
                  <a:srgbClr val="098658"/>
                </a:solidFill>
                <a:latin typeface="Courier New" panose="02070309020205020404" pitchFamily="49" charset="0"/>
              </a:rPr>
              <a:t>1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forest_reg.fit(X_train, y_train)</a:t>
            </a: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y_train_pred = forest_reg.predict(X_train)</a:t>
            </a:r>
            <a:endParaRPr lang="en-US" sz="20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rgbClr val="008000"/>
                </a:solidFill>
                <a:latin typeface="Courier New" panose="02070309020205020404" pitchFamily="49" charset="0"/>
              </a:rPr>
              <a:t>TRAINING RESULTS</a:t>
            </a:r>
            <a:endParaRPr lang="en-US" dirty="0"/>
          </a:p>
        </p:txBody>
      </p:sp>
      <p:sp>
        <p:nvSpPr>
          <p:cNvPr id="10" name="Code"/>
          <p:cNvSpPr txBox="1"/>
          <p:nvPr/>
        </p:nvSpPr>
        <p:spPr>
          <a:xfrm>
            <a:off x="731520" y="1600200"/>
            <a:ext cx="10744200" cy="2591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train_rmse = np.sqrt(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mean_squared_error(y_train, y_train_pred)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train_r2 = r2_score(y_train, y_train_pred)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"\nInitial Training Results"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"Training RMSE:"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round(train_rmse, </a:t>
            </a:r>
            <a:r>
              <a:rPr lang="en-US" sz="1800" dirty="0">
                <a:solidFill>
                  <a:srgbClr val="098658"/>
                </a:solidFill>
                <a:latin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  <a:endParaRPr lang="en-US" sz="1800" dirty="0">
              <a:latin typeface="Courier New" panose="020703090202050204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"Training R2 Score:"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round(train_r2, </a:t>
            </a:r>
            <a:r>
              <a:rPr lang="en-US" sz="1800" dirty="0">
                <a:solidFill>
                  <a:srgbClr val="098658"/>
                </a:solidFill>
                <a:latin typeface="Courier New" panose="02070309020205020404" pitchFamily="49" charset="0"/>
              </a:rPr>
              <a:t>4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  <a:endParaRPr lang="en-US" sz="1800" dirty="0">
              <a:latin typeface="Courier New" panose="02070309020205020404" pitchFamily="49" charset="0"/>
            </a:endParaRPr>
          </a:p>
        </p:txBody>
      </p:sp>
      <p:pic>
        <p:nvPicPr>
          <p:cNvPr id="11" name="Output 1" descr="Output: training RMSE and R2 score of the initial for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421950"/>
            <a:ext cx="3410500" cy="1016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008000"/>
                </a:solidFill>
                <a:latin typeface="Courier New" panose="02070309020205020404" pitchFamily="49" charset="0"/>
              </a:rPr>
              <a:t>ACTIVITY 1: PCA</a:t>
            </a:r>
            <a:endParaRPr lang="en-US" dirty="0"/>
          </a:p>
        </p:txBody>
      </p:sp>
      <p:sp>
        <p:nvSpPr>
          <p:cNvPr id="10" name="Activity Text"/>
          <p:cNvSpPr txBox="1"/>
          <p:nvPr/>
        </p:nvSpPr>
        <p:spPr>
          <a:xfrm>
            <a:off x="731520" y="1554480"/>
            <a:ext cx="10744200" cy="480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Aft>
                <a:spcPts val="800"/>
              </a:spcAft>
              <a:buNone/>
            </a:pPr>
            <a:r>
              <a:rPr lang="en-US" sz="2000" b="1" dirty="0"/>
              <a:t>Question 1. Principal Component Analysis (PCA)</a:t>
            </a:r>
          </a:p>
          <a:p>
            <a:pPr>
              <a:spcAft>
                <a:spcPts val="800"/>
              </a:spcAft>
              <a:buNone/>
            </a:pPr>
            <a:r>
              <a:rPr lang="en-US" sz="1600" b="1" dirty="0"/>
              <a:t>Dataset:</a:t>
            </a:r>
            <a:r>
              <a:rPr lang="en-US" sz="1600" dirty="0"/>
              <a:t> Fashion MNIST. The dataset contains 28 × 28 grayscale images of clothing items, represented by 784 pixel features per image. Use the Kaggle dataset or competition resources for downloading the data. Dataset link: Fashion MNIST PCA Dataset on Kaggle.</a:t>
            </a:r>
          </a:p>
          <a:p>
            <a:pPr>
              <a:spcAft>
                <a:spcPts val="800"/>
              </a:spcAft>
              <a:buNone/>
            </a:pPr>
            <a:r>
              <a:rPr lang="en-US" sz="1600" b="1" dirty="0"/>
              <a:t>Objective:</a:t>
            </a:r>
            <a:r>
              <a:rPr lang="en-US" sz="1600" dirty="0"/>
              <a:t> Apply PCA using three different component-selection approaches and compare their effects on dimensionality reduction and information retention.</a:t>
            </a:r>
          </a:p>
          <a:p>
            <a:pPr>
              <a:spcAft>
                <a:spcPts val="400"/>
              </a:spcAft>
              <a:buNone/>
            </a:pPr>
            <a:r>
              <a:rPr lang="en-US" sz="1600" b="1" dirty="0"/>
              <a:t>Tasks: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/>
            </a:pPr>
            <a:r>
              <a:rPr lang="en-US" sz="1600" dirty="0"/>
              <a:t>Load the dataset into a Pandas DataFrame. Display its shape, first 10 rows, and class distribution.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2"/>
            </a:pPr>
            <a:r>
              <a:rPr lang="en-US" sz="1600" dirty="0"/>
              <a:t>Separate the image features from the target class labels. Normalize the pixel values and apply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StandardScaler</a:t>
            </a:r>
            <a:r>
              <a:rPr lang="en-US" sz="1600" dirty="0"/>
              <a:t> before PCA if required by your chosen preprocessing approach. Explain the effect of scaling.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008000"/>
                </a:solidFill>
                <a:latin typeface="Courier New" panose="02070309020205020404" pitchFamily="49" charset="0"/>
              </a:rPr>
              <a:t>ACTIVITY 1: PCA (CONT.)</a:t>
            </a:r>
            <a:endParaRPr lang="en-US" dirty="0"/>
          </a:p>
        </p:txBody>
      </p:sp>
      <p:sp>
        <p:nvSpPr>
          <p:cNvPr id="10" name="Activity Text"/>
          <p:cNvSpPr txBox="1"/>
          <p:nvPr/>
        </p:nvSpPr>
        <p:spPr>
          <a:xfrm>
            <a:off x="731520" y="1554480"/>
            <a:ext cx="10744200" cy="480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3"/>
            </a:pPr>
            <a:r>
              <a:rPr lang="en-US" sz="1600" dirty="0"/>
              <a:t>Apply PCA using the following three approaches:</a:t>
            </a:r>
          </a:p>
          <a:p>
            <a:pPr marL="685800" indent="-228600">
              <a:spcAft>
                <a:spcPts val="300"/>
              </a:spcAft>
              <a:buClr>
                <a:srgbClr val="008000"/>
              </a:buClr>
              <a:buFont typeface="Arial"/>
              <a:buChar char="•"/>
            </a:pPr>
            <a:r>
              <a:rPr lang="en-US" sz="1500" b="1" dirty="0"/>
              <a:t>Method 1. Fixed number of components:</a:t>
            </a:r>
            <a:r>
              <a:rPr lang="en-US" sz="1500" dirty="0"/>
              <a:t> Use 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PCA(n_components=50)</a:t>
            </a:r>
            <a:r>
              <a:rPr lang="en-US" sz="1500" dirty="0"/>
              <a:t> to reduce the 784 pixel features to 50 principal components.</a:t>
            </a:r>
          </a:p>
          <a:p>
            <a:pPr marL="685800" indent="-228600">
              <a:spcAft>
                <a:spcPts val="300"/>
              </a:spcAft>
              <a:buClr>
                <a:srgbClr val="008000"/>
              </a:buClr>
              <a:buFont typeface="Arial"/>
              <a:buChar char="•"/>
            </a:pPr>
            <a:r>
              <a:rPr lang="en-US" sz="1500" b="1" dirty="0"/>
              <a:t>Method 2. Percentage of variance:</a:t>
            </a:r>
            <a:r>
              <a:rPr lang="en-US" sz="1500" dirty="0"/>
              <a:t> Use 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PCA(n_components=0.95)</a:t>
            </a:r>
            <a:r>
              <a:rPr lang="en-US" sz="1500" dirty="0"/>
              <a:t> to retain enough components to explain at least 95% of the variance.</a:t>
            </a:r>
          </a:p>
          <a:p>
            <a:pPr marL="685800" indent="-228600">
              <a:spcAft>
                <a:spcPts val="300"/>
              </a:spcAft>
              <a:buClr>
                <a:srgbClr val="008000"/>
              </a:buClr>
              <a:buFont typeface="Arial"/>
              <a:buChar char="•"/>
            </a:pPr>
            <a:r>
              <a:rPr lang="en-US" sz="1500" b="1" dirty="0"/>
              <a:t>Method 3. All components:</a:t>
            </a:r>
            <a:r>
              <a:rPr lang="en-US" sz="1500" dirty="0"/>
              <a:t> Use 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PCA(n_components=None)</a:t>
            </a:r>
            <a:r>
              <a:rPr lang="en-US" sz="1500" dirty="0"/>
              <a:t> to retain all available principal components.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4"/>
            </a:pPr>
            <a:r>
              <a:rPr lang="en-US" sz="1600" dirty="0"/>
              <a:t>For each approach, display the original number of features, the number of retained components, and the cumulative explained variance.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5"/>
            </a:pPr>
            <a:r>
              <a:rPr lang="en-US" sz="1600" dirty="0"/>
              <a:t>Plot the cumulative explained variance against the number of principal components.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6"/>
            </a:pPr>
            <a:r>
              <a:rPr lang="en-US" sz="1600" dirty="0"/>
              <a:t>Visualize the dataset in two dimensions using the first two principal components. Color the points according to their clothing classes.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7"/>
            </a:pPr>
            <a:r>
              <a:rPr lang="en-US" sz="1600" dirty="0"/>
              <a:t>Compare all three approaches in a table. Explain which method provides the greatest dimensionality reduction and which preserves the most information.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008000"/>
                </a:solidFill>
                <a:latin typeface="Courier New" panose="02070309020205020404" pitchFamily="49" charset="0"/>
              </a:rPr>
              <a:t>ACTIVITY 2: RF CLASSIFIER</a:t>
            </a:r>
            <a:endParaRPr lang="en-US" dirty="0"/>
          </a:p>
        </p:txBody>
      </p:sp>
      <p:sp>
        <p:nvSpPr>
          <p:cNvPr id="10" name="Activity Text"/>
          <p:cNvSpPr txBox="1"/>
          <p:nvPr/>
        </p:nvSpPr>
        <p:spPr>
          <a:xfrm>
            <a:off x="731520" y="1554480"/>
            <a:ext cx="10744200" cy="480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Aft>
                <a:spcPts val="800"/>
              </a:spcAft>
              <a:buNone/>
            </a:pPr>
            <a:r>
              <a:rPr lang="en-US" sz="2000" b="1" dirty="0"/>
              <a:t>Question 2. Random Forest Classification with GridSearchCV</a:t>
            </a:r>
          </a:p>
          <a:p>
            <a:pPr>
              <a:spcAft>
                <a:spcPts val="800"/>
              </a:spcAft>
              <a:buNone/>
            </a:pPr>
            <a:r>
              <a:rPr lang="en-US" sz="1600" b="1" dirty="0"/>
              <a:t>Dataset:</a:t>
            </a:r>
            <a:r>
              <a:rPr lang="en-US" sz="1600" dirty="0"/>
              <a:t> Heart Disease UCI. The task is to predict whether a patient has heart disease using patient-related attributes. Dataset link: Heart Disease Dataset on Kaggle.</a:t>
            </a:r>
          </a:p>
          <a:p>
            <a:pPr>
              <a:spcAft>
                <a:spcPts val="400"/>
              </a:spcAft>
              <a:buNone/>
            </a:pPr>
            <a:r>
              <a:rPr lang="en-US" sz="1600" b="1" dirty="0"/>
              <a:t>Tasks: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/>
            </a:pPr>
            <a:r>
              <a:rPr lang="en-US" sz="1600" dirty="0"/>
              <a:t>Load the dataset into a Pandas DataFrame. Display its shape, first 10 rows, missing values, and target class distribution.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2"/>
            </a:pPr>
            <a:r>
              <a:rPr lang="en-US" sz="1600" dirty="0"/>
              <a:t>Clean the dataset by handling missing values and encoding categorical features where necessary.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3"/>
            </a:pPr>
            <a:r>
              <a:rPr lang="en-US" sz="1600" dirty="0"/>
              <a:t>Separate the input features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600" dirty="0"/>
              <a:t> from the target variable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en-US" sz="1600" dirty="0"/>
              <a:t>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4"/>
            </a:pPr>
            <a:r>
              <a:rPr lang="en-US" sz="1600" dirty="0"/>
              <a:t>Split the data into training and testing sets using an 80/20 ratio,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stratify=y</a:t>
            </a:r>
            <a:r>
              <a:rPr lang="en-US" sz="1600" dirty="0"/>
              <a:t>, and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random_state=42</a:t>
            </a:r>
            <a:r>
              <a:rPr lang="en-US" sz="1600" dirty="0"/>
              <a:t>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5"/>
            </a:pPr>
            <a:r>
              <a:rPr lang="en-US" sz="1600" dirty="0"/>
              <a:t>Train a basic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RandomForestClassifier</a:t>
            </a:r>
            <a:r>
              <a:rPr lang="en-US" sz="1600" dirty="0"/>
              <a:t> using default parameters and record its test accuracy.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008000"/>
                </a:solidFill>
                <a:latin typeface="Courier New" panose="02070309020205020404" pitchFamily="49" charset="0"/>
              </a:rPr>
              <a:t>ACTIVITY 2: GRID SEARCH</a:t>
            </a:r>
            <a:endParaRPr lang="en-US" dirty="0"/>
          </a:p>
        </p:txBody>
      </p:sp>
      <p:sp>
        <p:nvSpPr>
          <p:cNvPr id="10" name="Activity Text"/>
          <p:cNvSpPr txBox="1"/>
          <p:nvPr/>
        </p:nvSpPr>
        <p:spPr>
          <a:xfrm>
            <a:off x="731520" y="1554480"/>
            <a:ext cx="6300000" cy="480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6"/>
            </a:pPr>
            <a:r>
              <a:rPr lang="en-US" sz="1600" dirty="0"/>
              <a:t>Define a parameter grid for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GridSearchCV</a:t>
            </a:r>
            <a:r>
              <a:rPr lang="en-US" sz="1600" dirty="0"/>
              <a:t> using the values in the table.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7"/>
            </a:pPr>
            <a:r>
              <a:rPr lang="en-US" sz="1600" dirty="0"/>
              <a:t>Apply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GridSearchCV</a:t>
            </a:r>
            <a:r>
              <a:rPr lang="en-US" sz="1600" dirty="0"/>
              <a:t> with five-fold cross-validation and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scoring='accuracy'</a:t>
            </a:r>
            <a:r>
              <a:rPr lang="en-US" sz="1600" dirty="0"/>
              <a:t>. Use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random_state=42</a:t>
            </a:r>
            <a:r>
              <a:rPr lang="en-US" sz="1600" dirty="0"/>
              <a:t> for the Random Forest.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8"/>
            </a:pPr>
            <a:r>
              <a:rPr lang="en-US" sz="1600" dirty="0"/>
              <a:t>Display the best hyperparameters and the best cross-validation accuracy.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9"/>
            </a:pPr>
            <a:r>
              <a:rPr lang="en-US" sz="1600" dirty="0"/>
              <a:t>Evaluate the best model on the test set using:</a:t>
            </a:r>
          </a:p>
          <a:p>
            <a:pPr marL="685800" indent="-228600">
              <a:spcAft>
                <a:spcPts val="300"/>
              </a:spcAft>
              <a:buClr>
                <a:srgbClr val="008000"/>
              </a:buClr>
              <a:buFont typeface="Arial"/>
              <a:buChar char="•"/>
            </a:pPr>
            <a:r>
              <a:rPr lang="en-US" sz="1500" dirty="0"/>
              <a:t>Accuracy, Precision, Recall, F1-score</a:t>
            </a:r>
          </a:p>
          <a:p>
            <a:pPr marL="685800" indent="-228600">
              <a:spcAft>
                <a:spcPts val="300"/>
              </a:spcAft>
              <a:buClr>
                <a:srgbClr val="008000"/>
              </a:buClr>
              <a:buFont typeface="Arial"/>
              <a:buChar char="•"/>
            </a:pPr>
            <a:r>
              <a:rPr lang="en-US" sz="1500" dirty="0"/>
              <a:t>Confusion matrix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10"/>
            </a:pPr>
            <a:r>
              <a:rPr lang="en-US" sz="1600" dirty="0"/>
              <a:t>Plot the feature importances and identify the three most influential features.</a:t>
            </a:r>
          </a:p>
        </p:txBody>
      </p:sp>
      <p:sp>
        <p:nvSpPr>
          <p:cNvPr id="11" name="Grid Caption"/>
          <p:cNvSpPr txBox="1"/>
          <p:nvPr/>
        </p:nvSpPr>
        <p:spPr>
          <a:xfrm>
            <a:off x="7200000" y="1554480"/>
            <a:ext cx="4000000" cy="34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1600" b="1" dirty="0"/>
              <a:t>Parameter grid for task 6</a:t>
            </a:r>
          </a:p>
        </p:txBody>
      </p:sp>
      <p:graphicFrame>
        <p:nvGraphicFramePr>
          <p:cNvPr id="12" name="Parameter Grid"/>
          <p:cNvGraphicFramePr>
            <a:graphicFrameLocks noGrp="1"/>
          </p:cNvGraphicFramePr>
          <p:nvPr/>
        </p:nvGraphicFramePr>
        <p:xfrm>
          <a:off x="7200000" y="1950000"/>
          <a:ext cx="4150000" cy="2400000"/>
        </p:xfrm>
        <a:graphic>
          <a:graphicData uri="http://schemas.openxmlformats.org/drawingml/2006/table">
            <a:tbl>
              <a:tblPr firstRow="1"/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Parameter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Values to test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</a:rPr>
                        <a:t>n_estimators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100, 200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</a:rPr>
                        <a:t>max_depth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None, 10, 20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</a:rPr>
                        <a:t>min_samples_split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2, 5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</a:rPr>
                        <a:t>min_samples_leaf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1, 2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</a:rPr>
                        <a:t>max_features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sqrt, log2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008000"/>
                </a:solidFill>
                <a:latin typeface="Courier New" panose="02070309020205020404" pitchFamily="49" charset="0"/>
              </a:rPr>
              <a:t>ACTIVITY 3: RF REGRESSION</a:t>
            </a:r>
            <a:endParaRPr lang="en-US" dirty="0"/>
          </a:p>
        </p:txBody>
      </p:sp>
      <p:sp>
        <p:nvSpPr>
          <p:cNvPr id="10" name="Activity Text"/>
          <p:cNvSpPr txBox="1"/>
          <p:nvPr/>
        </p:nvSpPr>
        <p:spPr>
          <a:xfrm>
            <a:off x="731520" y="1554480"/>
            <a:ext cx="10744200" cy="480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Aft>
                <a:spcPts val="800"/>
              </a:spcAft>
              <a:buNone/>
            </a:pPr>
            <a:r>
              <a:rPr lang="en-US" sz="2000" b="1" dirty="0"/>
              <a:t>Question 3. Random Forest Regression with GridSearchCV</a:t>
            </a:r>
          </a:p>
          <a:p>
            <a:pPr>
              <a:spcAft>
                <a:spcPts val="800"/>
              </a:spcAft>
              <a:buNone/>
            </a:pPr>
            <a:r>
              <a:rPr lang="en-US" sz="1600" b="1" dirty="0"/>
              <a:t>Dataset:</a:t>
            </a:r>
            <a:r>
              <a:rPr lang="en-US" sz="1600" dirty="0"/>
              <a:t> House Prices: Advanced Regression Techniques. This dataset contains housing attributes, and the target variable is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SalePrice</a:t>
            </a:r>
            <a:r>
              <a:rPr lang="en-US" sz="1600" dirty="0"/>
              <a:t>. The training data contains 1,460 house records and 79 explanatory variables, plus an ID and the target. Dataset link: House Prices Dataset on Kaggle.</a:t>
            </a:r>
          </a:p>
          <a:p>
            <a:pPr>
              <a:spcAft>
                <a:spcPts val="400"/>
              </a:spcAft>
              <a:buNone/>
            </a:pPr>
            <a:r>
              <a:rPr lang="en-US" sz="1600" b="1" dirty="0"/>
              <a:t>Tasks: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/>
            </a:pPr>
            <a:r>
              <a:rPr lang="en-US" sz="1600" dirty="0"/>
              <a:t>Download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train.csv</a:t>
            </a:r>
            <a:r>
              <a:rPr lang="en-US" sz="1600" dirty="0"/>
              <a:t> from Kaggle and load it into a Pandas DataFrame.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2"/>
            </a:pPr>
            <a:r>
              <a:rPr lang="en-US" sz="1600" dirty="0"/>
              <a:t>Display the dataset shape, first 10 rows, missing values, and summary statistics of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SalePrice</a:t>
            </a:r>
            <a:r>
              <a:rPr lang="en-US" sz="1600" dirty="0"/>
              <a:t>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3"/>
            </a:pPr>
            <a:r>
              <a:rPr lang="en-US" sz="1600" dirty="0"/>
              <a:t>Separate the input features from the target variable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SalePrice</a:t>
            </a:r>
            <a:r>
              <a:rPr lang="en-US" sz="1600" dirty="0"/>
              <a:t>. Remove the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Id</a:t>
            </a:r>
            <a:r>
              <a:rPr lang="en-US" sz="1600" dirty="0"/>
              <a:t> column from the input features because it is an identifier rather than a meaningful house attribute.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4"/>
            </a:pPr>
            <a:r>
              <a:rPr lang="en-US" sz="1600" dirty="0"/>
              <a:t>Handle missing values and convert categorical variables into numerical features using appropriate preprocessing.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5"/>
            </a:pPr>
            <a:r>
              <a:rPr lang="en-US" sz="1600" dirty="0"/>
              <a:t>Split the dataset into training and testing sets using an 80/20 ratio and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random_state=42</a:t>
            </a:r>
            <a:r>
              <a:rPr lang="en-US" sz="1600" dirty="0"/>
              <a:t>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6"/>
            </a:pPr>
            <a:r>
              <a:rPr lang="en-US" sz="1600" dirty="0"/>
              <a:t>Train a basic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RandomForestRegressor</a:t>
            </a:r>
            <a:r>
              <a:rPr lang="en-US" sz="1600" dirty="0"/>
              <a:t> using default parameters and record its performance.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2913-C84C-F7B3-EA3C-3D28F223397C}"/>
              </a:ext>
            </a:extLst>
          </p:cNvPr>
          <p:cNvSpPr txBox="1">
            <a:spLocks/>
          </p:cNvSpPr>
          <p:nvPr/>
        </p:nvSpPr>
        <p:spPr>
          <a:xfrm>
            <a:off x="2125980" y="566928"/>
            <a:ext cx="7941564" cy="77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008000"/>
                </a:solidFill>
                <a:latin typeface="Courier New" panose="02070309020205020404" pitchFamily="49" charset="0"/>
              </a:rPr>
              <a:t>ACTIVITY 3: GRID SEARCH</a:t>
            </a:r>
            <a:endParaRPr lang="en-US" dirty="0"/>
          </a:p>
        </p:txBody>
      </p:sp>
      <p:sp>
        <p:nvSpPr>
          <p:cNvPr id="10" name="Activity Text"/>
          <p:cNvSpPr txBox="1"/>
          <p:nvPr/>
        </p:nvSpPr>
        <p:spPr>
          <a:xfrm>
            <a:off x="731520" y="1554480"/>
            <a:ext cx="6300000" cy="480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7"/>
            </a:pPr>
            <a:r>
              <a:rPr lang="en-US" sz="1600" dirty="0"/>
              <a:t>Define the parameter grid shown in the table.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8"/>
            </a:pPr>
            <a:r>
              <a:rPr lang="en-US" sz="1600" dirty="0"/>
              <a:t>Use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GridSearchCV</a:t>
            </a:r>
            <a:r>
              <a:rPr lang="en-US" sz="1600" dirty="0"/>
              <a:t> with five-fold cross-validation and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scoring='neg_mean_squared_error'</a:t>
            </a:r>
            <a:r>
              <a:rPr lang="en-US" sz="1600" dirty="0"/>
              <a:t>. Set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random_state=42</a:t>
            </a:r>
            <a:r>
              <a:rPr lang="en-US" sz="1600" dirty="0"/>
              <a:t> for the Random Forest.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9"/>
            </a:pPr>
            <a:r>
              <a:rPr lang="en-US" sz="1600" dirty="0"/>
              <a:t>Display the best hyperparameters and the best cross-validation score. Convert the negative mean squared error into a positive MSE and take its square root to obtain RMSE.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10"/>
            </a:pPr>
            <a:r>
              <a:rPr lang="en-US" sz="1600" dirty="0"/>
              <a:t>Evaluate the best model on the test set using MAE, MSE, RMSE and the R² score.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11"/>
            </a:pPr>
            <a:r>
              <a:rPr lang="en-US" sz="1600" dirty="0"/>
              <a:t>Compare the default and optimized models in a table.</a:t>
            </a:r>
          </a:p>
          <a:p>
            <a:pPr marL="420000" indent="-420000">
              <a:spcAft>
                <a:spcPts val="600"/>
              </a:spcAft>
              <a:buClr>
                <a:srgbClr val="008000"/>
              </a:buClr>
              <a:buFont typeface="+mj-lt"/>
              <a:buAutoNum type="arabicPeriod" startAt="12"/>
            </a:pPr>
            <a:r>
              <a:rPr lang="en-US" sz="1600" dirty="0"/>
              <a:t>Plot the actual versus predicted house prices and display the feature importances of the five most influential features.</a:t>
            </a:r>
          </a:p>
        </p:txBody>
      </p:sp>
      <p:sp>
        <p:nvSpPr>
          <p:cNvPr id="11" name="Grid Caption"/>
          <p:cNvSpPr txBox="1"/>
          <p:nvPr/>
        </p:nvSpPr>
        <p:spPr>
          <a:xfrm>
            <a:off x="7200000" y="1554480"/>
            <a:ext cx="4000000" cy="34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1600" b="1" dirty="0"/>
              <a:t>Parameter grid for task 7</a:t>
            </a:r>
          </a:p>
        </p:txBody>
      </p:sp>
      <p:graphicFrame>
        <p:nvGraphicFramePr>
          <p:cNvPr id="12" name="Parameter Grid"/>
          <p:cNvGraphicFramePr>
            <a:graphicFrameLocks noGrp="1"/>
          </p:cNvGraphicFramePr>
          <p:nvPr/>
        </p:nvGraphicFramePr>
        <p:xfrm>
          <a:off x="7200000" y="1950000"/>
          <a:ext cx="4150000" cy="2400000"/>
        </p:xfrm>
        <a:graphic>
          <a:graphicData uri="http://schemas.openxmlformats.org/drawingml/2006/table">
            <a:tbl>
              <a:tblPr firstRow="1"/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Parameter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Values to test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</a:rPr>
                        <a:t>n_estimators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100, 200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</a:rPr>
                        <a:t>max_depth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None, 10, 20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</a:rPr>
                        <a:t>min_samples_split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2, 5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</a:rPr>
                        <a:t>min_samples_leaf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1, 2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</a:rPr>
                        <a:t>max_features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0.7, 1.0</a:t>
                      </a:r>
                    </a:p>
                  </a:txBody>
                  <a:tcPr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18824</TotalTime>
  <Words>2665</Words>
  <Application>Microsoft Office PowerPoint</Application>
  <PresentationFormat>Widescreen</PresentationFormat>
  <Paragraphs>345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Courier New</vt:lpstr>
      <vt:lpstr>Garamond</vt:lpstr>
      <vt:lpstr>Organic</vt:lpstr>
      <vt:lpstr>Machine Learning LAB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LAB</dc:title>
  <dc:creator>Waqar Ahmad</dc:creator>
  <cp:lastModifiedBy>Kainat Abdullah</cp:lastModifiedBy>
  <cp:revision>279</cp:revision>
  <dcterms:created xsi:type="dcterms:W3CDTF">2020-04-16T04:39:44Z</dcterms:created>
  <dcterms:modified xsi:type="dcterms:W3CDTF">2026-10-19T10:41:08Z</dcterms:modified>
</cp:coreProperties>
</file>